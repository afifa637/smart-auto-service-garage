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30" autoAdjust="0"/>
  </p:normalViewPr>
  <p:slideViewPr>
    <p:cSldViewPr snapToGrid="0" snapToObjects="1">
      <p:cViewPr varScale="1">
        <p:scale>
          <a:sx n="98" d="100"/>
          <a:sy n="98" d="100"/>
        </p:scale>
        <p:origin x="82" y="1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5466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SmartGarage: automatic vehicle inspection and service bay. CSE 4102 project. OpenGL 3.3 core, C++, GLSL.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the garage and its main parts, the four reusable primitives with the model matrix and hierarchy that build every object, the proposal completion, the six mandatory requirements and the complete service workflow.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Vehicle: three orthographic views, ten construction stages, a custom hood quad with its face normal, and the rolling wheel transform.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Robot: five joints as a parent-child chain, four exchangeable tools, and the polishing stage. The sponge removes the grime band by band; the polisher lowers the roughness from 0.40 to 0.166, so highlights get about 34 times sharper and the reflection of the room becomes clearer.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motion and curve examples: scissor lift angle, roller door winding, cubic Bezier hose and ramp plus turntable rotation.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Lighting: directional, point, moving spot and headlight point lights, evaluated with the classical Phong reflection model.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Gouraud evaluates the Phong model per vertex and interpolates colour; Phong interpolates the normal and evaluates per fragment. Same scene, same lights.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Bonus: ray tracing. A physical inspection monitor beside the lift shows the underside of the raised vehicle, the wheels, the lift supports and the robot tool. Its picture comes from a separate GLSL ray-tracing pass: one camera ray per pixel, nearest hit, a shadow ray toward the inspection light. The rest of the garage is rasterised. The scene is the same lift, car and robot transforms the garage uses, recorded every frame. Default camera: the live robot-side view. Keys: 9 enlarge, minus shadows, equals camera preset, Insert/Delete orbit, PageDown light, numpad moves the light.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Demonstration video (2.5x speed, 2:41). Click to play. Full-speed 4K60 master: Demo_Video/SmartGarage_Demo_4K60.mp4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jpg"/><Relationship Id="rId11" Type="http://schemas.openxmlformats.org/officeDocument/2006/relationships/image" Target="../media/image15.jpg"/><Relationship Id="rId5" Type="http://schemas.openxmlformats.org/officeDocument/2006/relationships/image" Target="../media/image9.png"/><Relationship Id="rId10" Type="http://schemas.openxmlformats.org/officeDocument/2006/relationships/image" Target="../media/image14.jpg"/><Relationship Id="rId4" Type="http://schemas.openxmlformats.org/officeDocument/2006/relationships/image" Target="../media/image8.png"/><Relationship Id="rId9" Type="http://schemas.openxmlformats.org/officeDocument/2006/relationships/image" Target="../media/image13.jp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jp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9.jpg"/><Relationship Id="rId11" Type="http://schemas.openxmlformats.org/officeDocument/2006/relationships/image" Target="../media/image24.jpg"/><Relationship Id="rId5" Type="http://schemas.openxmlformats.org/officeDocument/2006/relationships/image" Target="../media/image18.jpg"/><Relationship Id="rId10" Type="http://schemas.openxmlformats.org/officeDocument/2006/relationships/image" Target="../media/image23.png"/><Relationship Id="rId4" Type="http://schemas.openxmlformats.org/officeDocument/2006/relationships/image" Target="../media/image17.jp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31.jpg"/><Relationship Id="rId3" Type="http://schemas.openxmlformats.org/officeDocument/2006/relationships/image" Target="../media/image6.jp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9.jpg"/><Relationship Id="rId5" Type="http://schemas.openxmlformats.org/officeDocument/2006/relationships/image" Target="../media/image28.jpg"/><Relationship Id="rId10" Type="http://schemas.openxmlformats.org/officeDocument/2006/relationships/image" Target="../media/image33.jpg"/><Relationship Id="rId4" Type="http://schemas.openxmlformats.org/officeDocument/2006/relationships/image" Target="../media/image27.jpg"/><Relationship Id="rId9" Type="http://schemas.openxmlformats.org/officeDocument/2006/relationships/image" Target="../media/image32.jpg"/></Relationships>
</file>

<file path=ppt/slides/_rels/slide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6.jpg"/><Relationship Id="rId5" Type="http://schemas.openxmlformats.org/officeDocument/2006/relationships/image" Target="../media/image35.jp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8.jpg"/></Relationships>
</file>

<file path=ppt/slides/_rels/slide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1.jpg"/><Relationship Id="rId4" Type="http://schemas.openxmlformats.org/officeDocument/2006/relationships/image" Target="../media/image40.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pic>
        <p:nvPicPr>
          <p:cNvPr id="2" name="Picture 1" descr="garage_overview.jpg"/>
          <p:cNvPicPr>
            <a:picLocks noChangeAspect="1"/>
          </p:cNvPicPr>
          <p:nvPr/>
        </p:nvPicPr>
        <p:blipFill>
          <a:blip r:embed="rId3"/>
          <a:srcRect l="28464" r="23289"/>
          <a:stretch>
            <a:fillRect/>
          </a:stretch>
        </p:blipFill>
        <p:spPr>
          <a:xfrm>
            <a:off x="6309359" y="0"/>
            <a:ext cx="5882335" cy="6858000"/>
          </a:xfrm>
          <a:prstGeom prst="rect">
            <a:avLst/>
          </a:prstGeom>
        </p:spPr>
      </p:pic>
      <p:sp>
        <p:nvSpPr>
          <p:cNvPr id="3" name="Rectangle 2"/>
          <p:cNvSpPr/>
          <p:nvPr/>
        </p:nvSpPr>
        <p:spPr>
          <a:xfrm>
            <a:off x="0" y="0"/>
            <a:ext cx="6675120" cy="6858000"/>
          </a:xfrm>
          <a:prstGeom prst="rect">
            <a:avLst/>
          </a:prstGeom>
          <a:solidFill>
            <a:srgbClr val="F4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6675120" y="0"/>
            <a:ext cx="91440" cy="68580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66559" y="0"/>
            <a:ext cx="45720" cy="68580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5943600" cy="411480"/>
          </a:xfrm>
          <a:prstGeom prst="rect">
            <a:avLst/>
          </a:prstGeom>
          <a:noFill/>
        </p:spPr>
        <p:txBody>
          <a:bodyPr wrap="none" lIns="36576" tIns="18288" rIns="36576" bIns="18288" anchor="t">
            <a:spAutoFit/>
          </a:bodyPr>
          <a:lstStyle/>
          <a:p>
            <a:pPr algn="l"/>
            <a:r>
              <a:rPr sz="1800" b="1" i="0">
                <a:solidFill>
                  <a:srgbClr val="157E94"/>
                </a:solidFill>
                <a:latin typeface="Segoe UI"/>
              </a:rPr>
              <a:t>CSE 4102: Computer Graphics and Image Processing</a:t>
            </a:r>
          </a:p>
        </p:txBody>
      </p:sp>
      <p:sp>
        <p:nvSpPr>
          <p:cNvPr id="7" name="TextBox 6"/>
          <p:cNvSpPr txBox="1"/>
          <p:nvPr/>
        </p:nvSpPr>
        <p:spPr>
          <a:xfrm>
            <a:off x="502920" y="1143000"/>
            <a:ext cx="5943600" cy="822960"/>
          </a:xfrm>
          <a:prstGeom prst="rect">
            <a:avLst/>
          </a:prstGeom>
          <a:noFill/>
        </p:spPr>
        <p:txBody>
          <a:bodyPr wrap="none" lIns="36576" tIns="18288" rIns="36576" bIns="18288" anchor="t">
            <a:spAutoFit/>
          </a:bodyPr>
          <a:lstStyle/>
          <a:p>
            <a:pPr algn="l"/>
            <a:r>
              <a:rPr sz="4800" b="1" i="0">
                <a:solidFill>
                  <a:srgbClr val="202428"/>
                </a:solidFill>
                <a:latin typeface="Segoe UI Semibold"/>
              </a:rPr>
              <a:t>SMARTGARAGE</a:t>
            </a:r>
          </a:p>
        </p:txBody>
      </p:sp>
      <p:sp>
        <p:nvSpPr>
          <p:cNvPr id="8" name="Rectangle 7"/>
          <p:cNvSpPr/>
          <p:nvPr/>
        </p:nvSpPr>
        <p:spPr>
          <a:xfrm>
            <a:off x="548640" y="2011680"/>
            <a:ext cx="1188720" cy="64008"/>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194560"/>
            <a:ext cx="5943600" cy="914400"/>
          </a:xfrm>
          <a:prstGeom prst="rect">
            <a:avLst/>
          </a:prstGeom>
          <a:noFill/>
        </p:spPr>
        <p:txBody>
          <a:bodyPr wrap="square" lIns="36576" tIns="18288" rIns="36576" bIns="18288" anchor="t">
            <a:spAutoFit/>
          </a:bodyPr>
          <a:lstStyle/>
          <a:p>
            <a:pPr algn="l">
              <a:lnSpc>
                <a:spcPct val="105000"/>
              </a:lnSpc>
            </a:pPr>
            <a:r>
              <a:rPr sz="2200" b="0" i="0">
                <a:solidFill>
                  <a:srgbClr val="202428"/>
                </a:solidFill>
                <a:latin typeface="Segoe UI"/>
              </a:rPr>
              <a:t>Automatic Vehicle Inspection and Service System Using OpenGL</a:t>
            </a:r>
          </a:p>
        </p:txBody>
      </p:sp>
      <p:sp>
        <p:nvSpPr>
          <p:cNvPr id="10" name="Rectangle 9"/>
          <p:cNvSpPr/>
          <p:nvPr/>
        </p:nvSpPr>
        <p:spPr>
          <a:xfrm>
            <a:off x="502920" y="3520440"/>
            <a:ext cx="5806440" cy="2286000"/>
          </a:xfrm>
          <a:prstGeom prst="rect">
            <a:avLst/>
          </a:prstGeom>
          <a:solidFill>
            <a:srgbClr val="FFFFFF"/>
          </a:solidFill>
          <a:ln w="12700">
            <a:solidFill>
              <a:srgbClr val="CFCB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520440"/>
            <a:ext cx="5806440" cy="64008"/>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883560" y="3794760"/>
            <a:ext cx="18288" cy="1783080"/>
          </a:xfrm>
          <a:prstGeom prst="rect">
            <a:avLst/>
          </a:prstGeom>
          <a:solidFill>
            <a:srgbClr val="CFC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703320"/>
            <a:ext cx="2651760" cy="365760"/>
          </a:xfrm>
          <a:prstGeom prst="rect">
            <a:avLst/>
          </a:prstGeom>
          <a:noFill/>
        </p:spPr>
        <p:txBody>
          <a:bodyPr wrap="none" lIns="36576" tIns="18288" rIns="36576" bIns="18288" anchor="t">
            <a:spAutoFit/>
          </a:bodyPr>
          <a:lstStyle/>
          <a:p>
            <a:pPr algn="l"/>
            <a:r>
              <a:rPr sz="1500" b="1" i="0">
                <a:solidFill>
                  <a:srgbClr val="9A6F00"/>
                </a:solidFill>
                <a:latin typeface="Segoe UI"/>
              </a:rPr>
              <a:t>SUBMITTED BY</a:t>
            </a:r>
          </a:p>
        </p:txBody>
      </p:sp>
      <p:sp>
        <p:nvSpPr>
          <p:cNvPr id="14" name="TextBox 13"/>
          <p:cNvSpPr txBox="1"/>
          <p:nvPr/>
        </p:nvSpPr>
        <p:spPr>
          <a:xfrm>
            <a:off x="685800" y="4114800"/>
            <a:ext cx="2651760" cy="411480"/>
          </a:xfrm>
          <a:prstGeom prst="rect">
            <a:avLst/>
          </a:prstGeom>
          <a:noFill/>
        </p:spPr>
        <p:txBody>
          <a:bodyPr wrap="none" lIns="36576" tIns="18288" rIns="36576" bIns="18288" anchor="t">
            <a:spAutoFit/>
          </a:bodyPr>
          <a:lstStyle/>
          <a:p>
            <a:pPr algn="l"/>
            <a:r>
              <a:rPr sz="2000" b="1" i="0">
                <a:solidFill>
                  <a:srgbClr val="202428"/>
                </a:solidFill>
                <a:latin typeface="Segoe UI"/>
              </a:rPr>
              <a:t>Afifa Sultana Offa</a:t>
            </a:r>
          </a:p>
        </p:txBody>
      </p:sp>
      <p:sp>
        <p:nvSpPr>
          <p:cNvPr id="15" name="TextBox 14"/>
          <p:cNvSpPr txBox="1"/>
          <p:nvPr/>
        </p:nvSpPr>
        <p:spPr>
          <a:xfrm>
            <a:off x="685800" y="4526280"/>
            <a:ext cx="2651760" cy="365760"/>
          </a:xfrm>
          <a:prstGeom prst="rect">
            <a:avLst/>
          </a:prstGeom>
          <a:noFill/>
        </p:spPr>
        <p:txBody>
          <a:bodyPr wrap="none" lIns="36576" tIns="18288" rIns="36576" bIns="18288" anchor="t">
            <a:spAutoFit/>
          </a:bodyPr>
          <a:lstStyle/>
          <a:p>
            <a:pPr algn="l"/>
            <a:r>
              <a:rPr sz="1700" b="1" i="0">
                <a:solidFill>
                  <a:srgbClr val="202428"/>
                </a:solidFill>
                <a:latin typeface="Segoe UI"/>
              </a:rPr>
              <a:t>Roll: 2107087</a:t>
            </a:r>
          </a:p>
        </p:txBody>
      </p:sp>
      <p:sp>
        <p:nvSpPr>
          <p:cNvPr id="16" name="TextBox 15"/>
          <p:cNvSpPr txBox="1"/>
          <p:nvPr/>
        </p:nvSpPr>
        <p:spPr>
          <a:xfrm>
            <a:off x="3066440" y="3703320"/>
            <a:ext cx="3291840" cy="365760"/>
          </a:xfrm>
          <a:prstGeom prst="rect">
            <a:avLst/>
          </a:prstGeom>
          <a:noFill/>
        </p:spPr>
        <p:txBody>
          <a:bodyPr wrap="none" lIns="36576" tIns="18288" rIns="36576" bIns="18288" anchor="t">
            <a:spAutoFit/>
          </a:bodyPr>
          <a:lstStyle/>
          <a:p>
            <a:pPr algn="l"/>
            <a:r>
              <a:rPr sz="1500" b="1" i="0">
                <a:solidFill>
                  <a:srgbClr val="9A6F00"/>
                </a:solidFill>
                <a:latin typeface="Segoe UI"/>
              </a:rPr>
              <a:t>SUBMITTED TO</a:t>
            </a:r>
          </a:p>
        </p:txBody>
      </p:sp>
      <p:sp>
        <p:nvSpPr>
          <p:cNvPr id="17" name="TextBox 16"/>
          <p:cNvSpPr txBox="1"/>
          <p:nvPr/>
        </p:nvSpPr>
        <p:spPr>
          <a:xfrm>
            <a:off x="3066440" y="4114800"/>
            <a:ext cx="3291840" cy="365760"/>
          </a:xfrm>
          <a:prstGeom prst="rect">
            <a:avLst/>
          </a:prstGeom>
          <a:noFill/>
        </p:spPr>
        <p:txBody>
          <a:bodyPr wrap="none" lIns="36576" tIns="18288" rIns="36576" bIns="18288" anchor="t">
            <a:spAutoFit/>
          </a:bodyPr>
          <a:lstStyle/>
          <a:p>
            <a:pPr algn="l"/>
            <a:r>
              <a:rPr sz="1800" b="1" i="0">
                <a:solidFill>
                  <a:srgbClr val="202428"/>
                </a:solidFill>
                <a:latin typeface="Segoe UI"/>
              </a:rPr>
              <a:t>Md. Tajmilur Rahman</a:t>
            </a:r>
          </a:p>
        </p:txBody>
      </p:sp>
      <p:sp>
        <p:nvSpPr>
          <p:cNvPr id="18" name="TextBox 17"/>
          <p:cNvSpPr txBox="1"/>
          <p:nvPr/>
        </p:nvSpPr>
        <p:spPr>
          <a:xfrm>
            <a:off x="3066440" y="4453128"/>
            <a:ext cx="3291840" cy="320040"/>
          </a:xfrm>
          <a:prstGeom prst="rect">
            <a:avLst/>
          </a:prstGeom>
          <a:noFill/>
        </p:spPr>
        <p:txBody>
          <a:bodyPr wrap="none" lIns="36576" tIns="18288" rIns="36576" bIns="18288" anchor="t">
            <a:spAutoFit/>
          </a:bodyPr>
          <a:lstStyle/>
          <a:p>
            <a:pPr algn="l"/>
            <a:r>
              <a:rPr sz="1400" b="0" i="0">
                <a:solidFill>
                  <a:srgbClr val="6F777D"/>
                </a:solidFill>
                <a:latin typeface="Segoe UI"/>
              </a:rPr>
              <a:t>Lecturer</a:t>
            </a:r>
          </a:p>
        </p:txBody>
      </p:sp>
      <p:sp>
        <p:nvSpPr>
          <p:cNvPr id="19" name="TextBox 18"/>
          <p:cNvSpPr txBox="1"/>
          <p:nvPr/>
        </p:nvSpPr>
        <p:spPr>
          <a:xfrm>
            <a:off x="3066440" y="4846320"/>
            <a:ext cx="3291840" cy="365760"/>
          </a:xfrm>
          <a:prstGeom prst="rect">
            <a:avLst/>
          </a:prstGeom>
          <a:noFill/>
        </p:spPr>
        <p:txBody>
          <a:bodyPr wrap="none" lIns="36576" tIns="18288" rIns="36576" bIns="18288" anchor="t">
            <a:spAutoFit/>
          </a:bodyPr>
          <a:lstStyle/>
          <a:p>
            <a:pPr algn="l"/>
            <a:r>
              <a:rPr sz="1800" b="1" i="0">
                <a:solidFill>
                  <a:srgbClr val="202428"/>
                </a:solidFill>
                <a:latin typeface="Segoe UI"/>
              </a:rPr>
              <a:t>Md. Mubtashim Abrar Nihal</a:t>
            </a:r>
          </a:p>
        </p:txBody>
      </p:sp>
      <p:sp>
        <p:nvSpPr>
          <p:cNvPr id="20" name="TextBox 19"/>
          <p:cNvSpPr txBox="1"/>
          <p:nvPr/>
        </p:nvSpPr>
        <p:spPr>
          <a:xfrm>
            <a:off x="3066440" y="5184648"/>
            <a:ext cx="3291840" cy="320040"/>
          </a:xfrm>
          <a:prstGeom prst="rect">
            <a:avLst/>
          </a:prstGeom>
          <a:noFill/>
        </p:spPr>
        <p:txBody>
          <a:bodyPr wrap="none" lIns="36576" tIns="18288" rIns="36576" bIns="18288" anchor="t">
            <a:spAutoFit/>
          </a:bodyPr>
          <a:lstStyle/>
          <a:p>
            <a:pPr algn="l"/>
            <a:r>
              <a:rPr sz="1400" b="0" i="0">
                <a:solidFill>
                  <a:srgbClr val="6F777D"/>
                </a:solidFill>
                <a:latin typeface="Segoe UI"/>
              </a:rPr>
              <a:t>Lecturer</a:t>
            </a:r>
          </a:p>
        </p:txBody>
      </p:sp>
      <p:sp>
        <p:nvSpPr>
          <p:cNvPr id="21" name="TextBox 20"/>
          <p:cNvSpPr txBox="1"/>
          <p:nvPr/>
        </p:nvSpPr>
        <p:spPr>
          <a:xfrm>
            <a:off x="502920" y="5989320"/>
            <a:ext cx="5943600" cy="590931"/>
          </a:xfrm>
          <a:prstGeom prst="rect">
            <a:avLst/>
          </a:prstGeom>
          <a:noFill/>
        </p:spPr>
        <p:txBody>
          <a:bodyPr wrap="square" lIns="36576" tIns="18288" rIns="36576" bIns="18288" anchor="t">
            <a:spAutoFit/>
          </a:bodyPr>
          <a:lstStyle/>
          <a:p>
            <a:pPr algn="ctr"/>
            <a:r>
              <a:rPr sz="1300" b="0" i="0" dirty="0">
                <a:solidFill>
                  <a:srgbClr val="6F777D"/>
                </a:solidFill>
                <a:latin typeface="Segoe UI"/>
              </a:rPr>
              <a:t>Department of Computer Science and Engineering</a:t>
            </a:r>
          </a:p>
          <a:p>
            <a:pPr algn="ctr"/>
            <a:r>
              <a:rPr sz="1300" b="0" i="0" dirty="0">
                <a:solidFill>
                  <a:srgbClr val="6F777D"/>
                </a:solidFill>
                <a:latin typeface="Segoe UI"/>
              </a:rPr>
              <a:t>Khulna University of Engineering &amp; Technology, Khulna 9203, Bangladesh</a:t>
            </a:r>
            <a:br>
              <a:rPr lang="en-US" sz="1300" b="0" i="0" dirty="0">
                <a:solidFill>
                  <a:srgbClr val="6F777D"/>
                </a:solidFill>
                <a:latin typeface="Segoe UI"/>
              </a:rPr>
            </a:br>
            <a:r>
              <a:rPr lang="en-US" sz="1000" b="0" i="0" dirty="0">
                <a:solidFill>
                  <a:srgbClr val="6F777D"/>
                </a:solidFill>
                <a:latin typeface="Segoe UI"/>
              </a:rPr>
              <a:t>Date of Submission: October 7, 2026</a:t>
            </a:r>
            <a:endParaRPr sz="1000" b="0" i="0" dirty="0">
              <a:solidFill>
                <a:srgbClr val="6F777D"/>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200" b="1" i="0">
                <a:solidFill>
                  <a:srgbClr val="202428"/>
                </a:solidFill>
                <a:latin typeface="Segoe UI Semibold"/>
              </a:rPr>
              <a:t>SMARTGARAGE AT A GLANCE</a:t>
            </a:r>
          </a:p>
        </p:txBody>
      </p:sp>
      <p:pic>
        <p:nvPicPr>
          <p:cNvPr id="6" name="Picture 5" descr="garage_overview.jpg"/>
          <p:cNvPicPr>
            <a:picLocks noChangeAspect="1"/>
          </p:cNvPicPr>
          <p:nvPr/>
        </p:nvPicPr>
        <p:blipFill>
          <a:blip r:embed="rId3"/>
          <a:srcRect/>
          <a:stretch>
            <a:fillRect/>
          </a:stretch>
        </p:blipFill>
        <p:spPr>
          <a:xfrm>
            <a:off x="411480" y="1008126"/>
            <a:ext cx="6400800" cy="3600450"/>
          </a:xfrm>
          <a:prstGeom prst="rect">
            <a:avLst/>
          </a:prstGeom>
          <a:ln w="19050">
            <a:solidFill>
              <a:srgbClr val="A6ADB2"/>
            </a:solidFill>
          </a:ln>
        </p:spPr>
      </p:pic>
      <p:pic>
        <p:nvPicPr>
          <p:cNvPr id="28" name="Picture 27" descr="cube_solid.jpg"/>
          <p:cNvPicPr>
            <a:picLocks noChangeAspect="1"/>
          </p:cNvPicPr>
          <p:nvPr/>
        </p:nvPicPr>
        <p:blipFill>
          <a:blip r:embed="rId4"/>
          <a:srcRect l="8590" r="8590"/>
          <a:stretch>
            <a:fillRect/>
          </a:stretch>
        </p:blipFill>
        <p:spPr>
          <a:xfrm>
            <a:off x="7086600" y="1006671"/>
            <a:ext cx="2103120" cy="1453064"/>
          </a:xfrm>
          <a:prstGeom prst="rect">
            <a:avLst/>
          </a:prstGeom>
          <a:ln w="15875">
            <a:solidFill>
              <a:srgbClr val="A6ADB2"/>
            </a:solidFill>
          </a:ln>
        </p:spPr>
      </p:pic>
      <p:pic>
        <p:nvPicPr>
          <p:cNvPr id="31" name="Picture 30" descr="cylinder28_solid.jpg"/>
          <p:cNvPicPr>
            <a:picLocks noChangeAspect="1"/>
          </p:cNvPicPr>
          <p:nvPr/>
        </p:nvPicPr>
        <p:blipFill>
          <a:blip r:embed="rId5"/>
          <a:srcRect l="4684" r="4684"/>
          <a:stretch>
            <a:fillRect/>
          </a:stretch>
        </p:blipFill>
        <p:spPr>
          <a:xfrm>
            <a:off x="9509760" y="1006671"/>
            <a:ext cx="2103120" cy="1453064"/>
          </a:xfrm>
          <a:prstGeom prst="rect">
            <a:avLst/>
          </a:prstGeom>
          <a:ln w="15875">
            <a:solidFill>
              <a:srgbClr val="A6ADB2"/>
            </a:solidFill>
          </a:ln>
        </p:spPr>
      </p:pic>
      <p:pic>
        <p:nvPicPr>
          <p:cNvPr id="34" name="Picture 33" descr="cylinder48_solid.jpg"/>
          <p:cNvPicPr>
            <a:picLocks noChangeAspect="1"/>
          </p:cNvPicPr>
          <p:nvPr/>
        </p:nvPicPr>
        <p:blipFill>
          <a:blip r:embed="rId6"/>
          <a:srcRect l="4684" r="4684"/>
          <a:stretch>
            <a:fillRect/>
          </a:stretch>
        </p:blipFill>
        <p:spPr>
          <a:xfrm>
            <a:off x="7086600" y="2972631"/>
            <a:ext cx="2103120" cy="1453064"/>
          </a:xfrm>
          <a:prstGeom prst="rect">
            <a:avLst/>
          </a:prstGeom>
          <a:ln w="15875">
            <a:solidFill>
              <a:srgbClr val="A6ADB2"/>
            </a:solidFill>
          </a:ln>
        </p:spPr>
      </p:pic>
      <p:pic>
        <p:nvPicPr>
          <p:cNvPr id="37" name="Picture 36" descr="sphere_solid.jpg"/>
          <p:cNvPicPr>
            <a:picLocks noChangeAspect="1"/>
          </p:cNvPicPr>
          <p:nvPr/>
        </p:nvPicPr>
        <p:blipFill>
          <a:blip r:embed="rId7"/>
          <a:srcRect l="4903" r="4903"/>
          <a:stretch>
            <a:fillRect/>
          </a:stretch>
        </p:blipFill>
        <p:spPr>
          <a:xfrm>
            <a:off x="9509760" y="2972631"/>
            <a:ext cx="2103120" cy="1453064"/>
          </a:xfrm>
          <a:prstGeom prst="rect">
            <a:avLst/>
          </a:prstGeom>
          <a:ln w="15875">
            <a:solidFill>
              <a:srgbClr val="A6ADB2"/>
            </a:solidFill>
          </a:ln>
        </p:spPr>
      </p:pic>
      <p:pic>
        <p:nvPicPr>
          <p:cNvPr id="67" name="Picture 66" descr="lift_raised.jpg"/>
          <p:cNvPicPr>
            <a:picLocks noChangeAspect="1"/>
          </p:cNvPicPr>
          <p:nvPr/>
        </p:nvPicPr>
        <p:blipFill>
          <a:blip r:embed="rId8"/>
          <a:srcRect t="46" b="46"/>
          <a:stretch>
            <a:fillRect/>
          </a:stretch>
        </p:blipFill>
        <p:spPr>
          <a:xfrm>
            <a:off x="411480" y="5032071"/>
            <a:ext cx="2240280" cy="1259000"/>
          </a:xfrm>
          <a:prstGeom prst="rect">
            <a:avLst/>
          </a:prstGeom>
          <a:ln w="19050">
            <a:solidFill>
              <a:srgbClr val="25A9C4"/>
            </a:solidFill>
          </a:ln>
        </p:spPr>
      </p:pic>
      <p:sp>
        <p:nvSpPr>
          <p:cNvPr id="92" name="Figure Caption 1"/>
          <p:cNvSpPr txBox="1"/>
          <p:nvPr/>
        </p:nvSpPr>
        <p:spPr>
          <a:xfrm>
            <a:off x="411480" y="4654296"/>
            <a:ext cx="640080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1  </a:t>
            </a:r>
            <a:r>
              <a:rPr lang="en-US" sz="1300" b="0">
                <a:solidFill>
                  <a:srgbClr val="202428"/>
                </a:solidFill>
                <a:latin typeface="Segoe UI"/>
              </a:rPr>
              <a:t>SmartGarage workshop overview</a:t>
            </a:r>
          </a:p>
        </p:txBody>
      </p:sp>
      <p:sp>
        <p:nvSpPr>
          <p:cNvPr id="93" name="Figure Caption 2"/>
          <p:cNvSpPr txBox="1"/>
          <p:nvPr/>
        </p:nvSpPr>
        <p:spPr>
          <a:xfrm>
            <a:off x="7086600" y="2505456"/>
            <a:ext cx="2103120"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2  </a:t>
            </a:r>
            <a:r>
              <a:rPr lang="en-US" sz="1100" b="0">
                <a:solidFill>
                  <a:srgbClr val="202428"/>
                </a:solidFill>
                <a:latin typeface="Segoe UI"/>
              </a:rPr>
              <a:t>Cube</a:t>
            </a:r>
          </a:p>
        </p:txBody>
      </p:sp>
      <p:sp>
        <p:nvSpPr>
          <p:cNvPr id="94" name="Figure Caption 3"/>
          <p:cNvSpPr txBox="1"/>
          <p:nvPr/>
        </p:nvSpPr>
        <p:spPr>
          <a:xfrm>
            <a:off x="9509760" y="2505456"/>
            <a:ext cx="2103120"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3  </a:t>
            </a:r>
            <a:r>
              <a:rPr lang="en-US" sz="1100" b="0">
                <a:solidFill>
                  <a:srgbClr val="202428"/>
                </a:solidFill>
                <a:latin typeface="Segoe UI"/>
              </a:rPr>
              <a:t>Cylinder</a:t>
            </a:r>
          </a:p>
        </p:txBody>
      </p:sp>
      <p:sp>
        <p:nvSpPr>
          <p:cNvPr id="95" name="Figure Caption 4"/>
          <p:cNvSpPr txBox="1"/>
          <p:nvPr/>
        </p:nvSpPr>
        <p:spPr>
          <a:xfrm>
            <a:off x="7086600" y="4471416"/>
            <a:ext cx="2103120"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4  </a:t>
            </a:r>
            <a:r>
              <a:rPr lang="en-US" sz="1100" b="0">
                <a:solidFill>
                  <a:srgbClr val="202428"/>
                </a:solidFill>
                <a:latin typeface="Segoe UI"/>
              </a:rPr>
              <a:t>Smooth cylinder</a:t>
            </a:r>
          </a:p>
        </p:txBody>
      </p:sp>
      <p:sp>
        <p:nvSpPr>
          <p:cNvPr id="96" name="Figure Caption 5"/>
          <p:cNvSpPr txBox="1"/>
          <p:nvPr/>
        </p:nvSpPr>
        <p:spPr>
          <a:xfrm>
            <a:off x="9509760" y="4471416"/>
            <a:ext cx="2103120"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5  </a:t>
            </a:r>
            <a:r>
              <a:rPr lang="en-US" sz="1100" b="0">
                <a:solidFill>
                  <a:srgbClr val="202428"/>
                </a:solidFill>
                <a:latin typeface="Segoe UI"/>
              </a:rPr>
              <a:t>Sphere</a:t>
            </a:r>
          </a:p>
        </p:txBody>
      </p:sp>
      <p:sp>
        <p:nvSpPr>
          <p:cNvPr id="97" name="Figure Caption 6"/>
          <p:cNvSpPr txBox="1"/>
          <p:nvPr/>
        </p:nvSpPr>
        <p:spPr>
          <a:xfrm>
            <a:off x="411480" y="6336792"/>
            <a:ext cx="2240280"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6  </a:t>
            </a:r>
            <a:r>
              <a:rPr lang="en-US" sz="1100" b="0">
                <a:solidFill>
                  <a:srgbClr val="202428"/>
                </a:solidFill>
                <a:latin typeface="Segoe UI"/>
              </a:rPr>
              <a:t>Scissor arm in the lift</a:t>
            </a:r>
          </a:p>
        </p:txBody>
      </p:sp>
      <p:sp>
        <p:nvSpPr>
          <p:cNvPr id="98" name="Equation Panel 98"/>
          <p:cNvSpPr/>
          <p:nvPr/>
        </p:nvSpPr>
        <p:spPr>
          <a:xfrm>
            <a:off x="2834640" y="5029200"/>
            <a:ext cx="8942832" cy="155448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KEY EQUATIONS</a:t>
            </a:r>
          </a:p>
          <a:p>
            <a:pPr algn="l">
              <a:spcAft>
                <a:spcPts val="200"/>
              </a:spcAft>
            </a:pPr>
            <a:r>
              <a:rPr lang="en-US" sz="1300" b="0">
                <a:solidFill>
                  <a:srgbClr val="202428"/>
                </a:solidFill>
                <a:latin typeface="Cambria"/>
              </a:rPr>
              <a:t>Model matrix: M = T · R</a:t>
            </a:r>
            <a:r>
              <a:rPr lang="en-US" sz="1300" b="0" baseline="-25000">
                <a:solidFill>
                  <a:srgbClr val="202428"/>
                </a:solidFill>
                <a:latin typeface="Cambria"/>
              </a:rPr>
              <a:t>y</a:t>
            </a:r>
            <a:r>
              <a:rPr lang="en-US" sz="1300" b="0">
                <a:solidFill>
                  <a:srgbClr val="202428"/>
                </a:solidFill>
                <a:latin typeface="Cambria"/>
              </a:rPr>
              <a:t> · R</a:t>
            </a:r>
            <a:r>
              <a:rPr lang="en-US" sz="1300" b="0" baseline="-25000">
                <a:solidFill>
                  <a:srgbClr val="202428"/>
                </a:solidFill>
                <a:latin typeface="Cambria"/>
              </a:rPr>
              <a:t>x</a:t>
            </a:r>
            <a:r>
              <a:rPr lang="en-US" sz="1300" b="0">
                <a:solidFill>
                  <a:srgbClr val="202428"/>
                </a:solidFill>
                <a:latin typeface="Cambria"/>
              </a:rPr>
              <a:t> · R</a:t>
            </a:r>
            <a:r>
              <a:rPr lang="en-US" sz="1300" b="0" baseline="-25000">
                <a:solidFill>
                  <a:srgbClr val="202428"/>
                </a:solidFill>
                <a:latin typeface="Cambria"/>
              </a:rPr>
              <a:t>z</a:t>
            </a:r>
            <a:r>
              <a:rPr lang="en-US" sz="1300" b="0">
                <a:solidFill>
                  <a:srgbClr val="202428"/>
                </a:solidFill>
                <a:latin typeface="Cambria"/>
              </a:rPr>
              <a:t> · S</a:t>
            </a:r>
          </a:p>
          <a:p>
            <a:pPr algn="l">
              <a:spcAft>
                <a:spcPts val="200"/>
              </a:spcAft>
            </a:pPr>
            <a:r>
              <a:rPr lang="en-US" sz="1300" b="0">
                <a:solidFill>
                  <a:srgbClr val="202428"/>
                </a:solidFill>
                <a:latin typeface="Cambria"/>
              </a:rPr>
              <a:t>Hierarchy: M</a:t>
            </a:r>
            <a:r>
              <a:rPr lang="en-US" sz="1300" b="0" baseline="-25000">
                <a:solidFill>
                  <a:srgbClr val="202428"/>
                </a:solidFill>
                <a:latin typeface="Cambria"/>
              </a:rPr>
              <a:t>child</a:t>
            </a:r>
            <a:r>
              <a:rPr lang="en-US" sz="1300" b="0">
                <a:solidFill>
                  <a:srgbClr val="202428"/>
                </a:solidFill>
                <a:latin typeface="Cambria"/>
              </a:rPr>
              <a:t> = M</a:t>
            </a:r>
            <a:r>
              <a:rPr lang="en-US" sz="1300" b="0" baseline="-25000">
                <a:solidFill>
                  <a:srgbClr val="202428"/>
                </a:solidFill>
                <a:latin typeface="Cambria"/>
              </a:rPr>
              <a:t>parent</a:t>
            </a:r>
            <a:r>
              <a:rPr lang="en-US" sz="1300" b="0">
                <a:solidFill>
                  <a:srgbClr val="202428"/>
                </a:solidFill>
                <a:latin typeface="Cambria"/>
              </a:rPr>
              <a:t> · M</a:t>
            </a:r>
            <a:r>
              <a:rPr lang="en-US" sz="1300" b="0" baseline="-25000">
                <a:solidFill>
                  <a:srgbClr val="202428"/>
                </a:solidFill>
                <a:latin typeface="Cambria"/>
              </a:rPr>
              <a:t>local</a:t>
            </a:r>
          </a:p>
          <a:p>
            <a:pPr algn="l">
              <a:spcAft>
                <a:spcPts val="200"/>
              </a:spcAft>
            </a:pPr>
            <a:r>
              <a:rPr lang="en-US" sz="1300" b="0">
                <a:solidFill>
                  <a:srgbClr val="202428"/>
                </a:solidFill>
                <a:latin typeface="Cambria"/>
              </a:rPr>
              <a:t>Unit cube → scissor arm: S(0.20, 0.32, 3.30), then R</a:t>
            </a:r>
            <a:r>
              <a:rPr lang="en-US" sz="1300" b="0" baseline="-25000">
                <a:solidFill>
                  <a:srgbClr val="202428"/>
                </a:solidFill>
                <a:latin typeface="Cambria"/>
              </a:rPr>
              <a:t>x</a:t>
            </a:r>
            <a:r>
              <a:rPr lang="en-US" sz="1300" b="0">
                <a:solidFill>
                  <a:srgbClr val="202428"/>
                </a:solidFill>
                <a:latin typeface="Cambria"/>
              </a:rPr>
              <a:t>(−14.75°), then T</a:t>
            </a:r>
          </a:p>
          <a:p>
            <a:pPr algn="l">
              <a:spcAft>
                <a:spcPts val="200"/>
              </a:spcAft>
            </a:pPr>
            <a:r>
              <a:rPr lang="en-US" sz="1300" b="0">
                <a:solidFill>
                  <a:srgbClr val="202428"/>
                </a:solidFill>
                <a:latin typeface="Cambria"/>
              </a:rPr>
              <a:t>21 / 21 proposal items implemented, plus a ray-traced inspection monitor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200" b="1" i="0">
                <a:solidFill>
                  <a:srgbClr val="202428"/>
                </a:solidFill>
                <a:latin typeface="Segoe UI Semibold"/>
              </a:rPr>
              <a:t>VEHICLE CONSTRUCTION</a:t>
            </a:r>
          </a:p>
        </p:txBody>
      </p:sp>
      <p:pic>
        <p:nvPicPr>
          <p:cNvPr id="7" name="Picture 6" descr="vehicle_right_dim.png"/>
          <p:cNvPicPr>
            <a:picLocks noChangeAspect="1"/>
          </p:cNvPicPr>
          <p:nvPr/>
        </p:nvPicPr>
        <p:blipFill>
          <a:blip r:embed="rId3"/>
          <a:srcRect/>
          <a:stretch>
            <a:fillRect/>
          </a:stretch>
        </p:blipFill>
        <p:spPr>
          <a:xfrm>
            <a:off x="457200" y="1291132"/>
            <a:ext cx="3566160" cy="2092147"/>
          </a:xfrm>
          <a:prstGeom prst="rect">
            <a:avLst/>
          </a:prstGeom>
          <a:ln w="15875">
            <a:solidFill>
              <a:srgbClr val="A6ADB2"/>
            </a:solidFill>
          </a:ln>
        </p:spPr>
      </p:pic>
      <p:pic>
        <p:nvPicPr>
          <p:cNvPr id="9" name="Picture 8" descr="vehicle_front_dim.png"/>
          <p:cNvPicPr>
            <a:picLocks noChangeAspect="1"/>
          </p:cNvPicPr>
          <p:nvPr/>
        </p:nvPicPr>
        <p:blipFill>
          <a:blip r:embed="rId4"/>
          <a:srcRect/>
          <a:stretch>
            <a:fillRect/>
          </a:stretch>
        </p:blipFill>
        <p:spPr>
          <a:xfrm>
            <a:off x="4297680" y="1291132"/>
            <a:ext cx="3566160" cy="2092147"/>
          </a:xfrm>
          <a:prstGeom prst="rect">
            <a:avLst/>
          </a:prstGeom>
          <a:ln w="15875">
            <a:solidFill>
              <a:srgbClr val="A6ADB2"/>
            </a:solidFill>
          </a:ln>
        </p:spPr>
      </p:pic>
      <p:pic>
        <p:nvPicPr>
          <p:cNvPr id="11" name="Picture 10" descr="vehicle_top_dim.png"/>
          <p:cNvPicPr>
            <a:picLocks noChangeAspect="1"/>
          </p:cNvPicPr>
          <p:nvPr/>
        </p:nvPicPr>
        <p:blipFill>
          <a:blip r:embed="rId5"/>
          <a:srcRect/>
          <a:stretch>
            <a:fillRect/>
          </a:stretch>
        </p:blipFill>
        <p:spPr>
          <a:xfrm>
            <a:off x="8138160" y="1291132"/>
            <a:ext cx="3566160" cy="2092147"/>
          </a:xfrm>
          <a:prstGeom prst="rect">
            <a:avLst/>
          </a:prstGeom>
          <a:ln w="15875">
            <a:solidFill>
              <a:srgbClr val="A6ADB2"/>
            </a:solidFill>
          </a:ln>
        </p:spPr>
      </p:pic>
      <p:pic>
        <p:nvPicPr>
          <p:cNvPr id="27" name="Picture 26" descr="build_01.jpg"/>
          <p:cNvPicPr>
            <a:picLocks noChangeAspect="1"/>
          </p:cNvPicPr>
          <p:nvPr/>
        </p:nvPicPr>
        <p:blipFill>
          <a:blip r:embed="rId6"/>
          <a:srcRect l="4721" r="4721"/>
          <a:stretch>
            <a:fillRect/>
          </a:stretch>
        </p:blipFill>
        <p:spPr>
          <a:xfrm>
            <a:off x="457200" y="3796219"/>
            <a:ext cx="1783080" cy="1232980"/>
          </a:xfrm>
          <a:prstGeom prst="rect">
            <a:avLst/>
          </a:prstGeom>
          <a:ln w="15875">
            <a:solidFill>
              <a:srgbClr val="A6ADB2"/>
            </a:solidFill>
          </a:ln>
        </p:spPr>
      </p:pic>
      <p:pic>
        <p:nvPicPr>
          <p:cNvPr id="30" name="Picture 29" descr="build_03.jpg"/>
          <p:cNvPicPr>
            <a:picLocks noChangeAspect="1"/>
          </p:cNvPicPr>
          <p:nvPr/>
        </p:nvPicPr>
        <p:blipFill>
          <a:blip r:embed="rId7"/>
          <a:srcRect l="4721" r="4721"/>
          <a:stretch>
            <a:fillRect/>
          </a:stretch>
        </p:blipFill>
        <p:spPr>
          <a:xfrm>
            <a:off x="2350008" y="3796219"/>
            <a:ext cx="1783080" cy="1232980"/>
          </a:xfrm>
          <a:prstGeom prst="rect">
            <a:avLst/>
          </a:prstGeom>
          <a:ln w="15875">
            <a:solidFill>
              <a:srgbClr val="A6ADB2"/>
            </a:solidFill>
          </a:ln>
        </p:spPr>
      </p:pic>
      <p:pic>
        <p:nvPicPr>
          <p:cNvPr id="33" name="Picture 32" descr="build_05.jpg"/>
          <p:cNvPicPr>
            <a:picLocks noChangeAspect="1"/>
          </p:cNvPicPr>
          <p:nvPr/>
        </p:nvPicPr>
        <p:blipFill>
          <a:blip r:embed="rId8"/>
          <a:srcRect l="4721" r="4721"/>
          <a:stretch>
            <a:fillRect/>
          </a:stretch>
        </p:blipFill>
        <p:spPr>
          <a:xfrm>
            <a:off x="4242816" y="3796219"/>
            <a:ext cx="1783080" cy="1232980"/>
          </a:xfrm>
          <a:prstGeom prst="rect">
            <a:avLst/>
          </a:prstGeom>
          <a:ln w="15875">
            <a:solidFill>
              <a:srgbClr val="A6ADB2"/>
            </a:solidFill>
          </a:ln>
        </p:spPr>
      </p:pic>
      <p:pic>
        <p:nvPicPr>
          <p:cNvPr id="36" name="Picture 35" descr="build_07.jpg"/>
          <p:cNvPicPr>
            <a:picLocks noChangeAspect="1"/>
          </p:cNvPicPr>
          <p:nvPr/>
        </p:nvPicPr>
        <p:blipFill>
          <a:blip r:embed="rId9"/>
          <a:srcRect l="4721" r="4721"/>
          <a:stretch>
            <a:fillRect/>
          </a:stretch>
        </p:blipFill>
        <p:spPr>
          <a:xfrm>
            <a:off x="6135624" y="3796219"/>
            <a:ext cx="1783080" cy="1232980"/>
          </a:xfrm>
          <a:prstGeom prst="rect">
            <a:avLst/>
          </a:prstGeom>
          <a:ln w="15875">
            <a:solidFill>
              <a:srgbClr val="A6ADB2"/>
            </a:solidFill>
          </a:ln>
        </p:spPr>
      </p:pic>
      <p:pic>
        <p:nvPicPr>
          <p:cNvPr id="39" name="Picture 38" descr="build_10.jpg"/>
          <p:cNvPicPr>
            <a:picLocks noChangeAspect="1"/>
          </p:cNvPicPr>
          <p:nvPr/>
        </p:nvPicPr>
        <p:blipFill>
          <a:blip r:embed="rId10"/>
          <a:srcRect l="4721" r="4721"/>
          <a:stretch>
            <a:fillRect/>
          </a:stretch>
        </p:blipFill>
        <p:spPr>
          <a:xfrm>
            <a:off x="8028431" y="3796219"/>
            <a:ext cx="1783080" cy="1232980"/>
          </a:xfrm>
          <a:prstGeom prst="rect">
            <a:avLst/>
          </a:prstGeom>
          <a:ln w="15875">
            <a:solidFill>
              <a:srgbClr val="A6ADB2"/>
            </a:solidFill>
          </a:ln>
        </p:spPr>
      </p:pic>
      <p:pic>
        <p:nvPicPr>
          <p:cNvPr id="42" name="Picture 41" descr="vehicle_showcase.jpg"/>
          <p:cNvPicPr>
            <a:picLocks noChangeAspect="1"/>
          </p:cNvPicPr>
          <p:nvPr/>
        </p:nvPicPr>
        <p:blipFill>
          <a:blip r:embed="rId11"/>
          <a:srcRect l="9327" r="9327"/>
          <a:stretch>
            <a:fillRect/>
          </a:stretch>
        </p:blipFill>
        <p:spPr>
          <a:xfrm>
            <a:off x="9921240" y="3796219"/>
            <a:ext cx="1783080" cy="1232980"/>
          </a:xfrm>
          <a:prstGeom prst="rect">
            <a:avLst/>
          </a:prstGeom>
          <a:ln w="31750">
            <a:solidFill>
              <a:srgbClr val="D9A525"/>
            </a:solidFill>
          </a:ln>
        </p:spPr>
      </p:pic>
      <p:sp>
        <p:nvSpPr>
          <p:cNvPr id="67" name="Figure Caption 7"/>
          <p:cNvSpPr txBox="1"/>
          <p:nvPr/>
        </p:nvSpPr>
        <p:spPr>
          <a:xfrm>
            <a:off x="457200" y="3429000"/>
            <a:ext cx="356616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7  </a:t>
            </a:r>
            <a:r>
              <a:rPr lang="en-US" sz="1300" b="0">
                <a:solidFill>
                  <a:srgbClr val="202428"/>
                </a:solidFill>
                <a:latin typeface="Segoe UI"/>
              </a:rPr>
              <a:t>Right view with dimensions</a:t>
            </a:r>
          </a:p>
        </p:txBody>
      </p:sp>
      <p:sp>
        <p:nvSpPr>
          <p:cNvPr id="68" name="Figure Caption 8"/>
          <p:cNvSpPr txBox="1"/>
          <p:nvPr/>
        </p:nvSpPr>
        <p:spPr>
          <a:xfrm>
            <a:off x="4297680" y="3429000"/>
            <a:ext cx="356616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8  </a:t>
            </a:r>
            <a:r>
              <a:rPr lang="en-US" sz="1300" b="0">
                <a:solidFill>
                  <a:srgbClr val="202428"/>
                </a:solidFill>
                <a:latin typeface="Segoe UI"/>
              </a:rPr>
              <a:t>Front view with dimensions</a:t>
            </a:r>
          </a:p>
        </p:txBody>
      </p:sp>
      <p:sp>
        <p:nvSpPr>
          <p:cNvPr id="69" name="Figure Caption 9"/>
          <p:cNvSpPr txBox="1"/>
          <p:nvPr/>
        </p:nvSpPr>
        <p:spPr>
          <a:xfrm>
            <a:off x="8138160" y="3429000"/>
            <a:ext cx="356616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9  </a:t>
            </a:r>
            <a:r>
              <a:rPr lang="en-US" sz="1300" b="0">
                <a:solidFill>
                  <a:srgbClr val="202428"/>
                </a:solidFill>
                <a:latin typeface="Segoe UI"/>
              </a:rPr>
              <a:t>Top view with dimensions</a:t>
            </a:r>
          </a:p>
        </p:txBody>
      </p:sp>
      <p:sp>
        <p:nvSpPr>
          <p:cNvPr id="70" name="Figure Caption 10"/>
          <p:cNvSpPr txBox="1"/>
          <p:nvPr/>
        </p:nvSpPr>
        <p:spPr>
          <a:xfrm>
            <a:off x="457200" y="5074920"/>
            <a:ext cx="1783080"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10  </a:t>
            </a:r>
            <a:r>
              <a:rPr lang="en-US" sz="1050" b="0">
                <a:solidFill>
                  <a:srgbClr val="202428"/>
                </a:solidFill>
                <a:latin typeface="Segoe UI"/>
              </a:rPr>
              <a:t>Stage 1: side skin</a:t>
            </a:r>
          </a:p>
        </p:txBody>
      </p:sp>
      <p:sp>
        <p:nvSpPr>
          <p:cNvPr id="71" name="Figure Caption 11"/>
          <p:cNvSpPr txBox="1"/>
          <p:nvPr/>
        </p:nvSpPr>
        <p:spPr>
          <a:xfrm>
            <a:off x="2350008" y="5074920"/>
            <a:ext cx="1783080"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11  </a:t>
            </a:r>
            <a:r>
              <a:rPr lang="en-US" sz="1050" b="0">
                <a:solidFill>
                  <a:srgbClr val="202428"/>
                </a:solidFill>
                <a:latin typeface="Segoe UI"/>
              </a:rPr>
              <a:t>Stage 3: roof + glass</a:t>
            </a:r>
          </a:p>
        </p:txBody>
      </p:sp>
      <p:sp>
        <p:nvSpPr>
          <p:cNvPr id="72" name="Figure Caption 12"/>
          <p:cNvSpPr txBox="1"/>
          <p:nvPr/>
        </p:nvSpPr>
        <p:spPr>
          <a:xfrm>
            <a:off x="4242816" y="5074920"/>
            <a:ext cx="1783080"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12  </a:t>
            </a:r>
            <a:r>
              <a:rPr lang="en-US" sz="1050" b="0">
                <a:solidFill>
                  <a:srgbClr val="202428"/>
                </a:solidFill>
                <a:latin typeface="Segoe UI"/>
              </a:rPr>
              <a:t>Stage 5: wheel arches</a:t>
            </a:r>
          </a:p>
        </p:txBody>
      </p:sp>
      <p:sp>
        <p:nvSpPr>
          <p:cNvPr id="73" name="Figure Caption 13"/>
          <p:cNvSpPr txBox="1"/>
          <p:nvPr/>
        </p:nvSpPr>
        <p:spPr>
          <a:xfrm>
            <a:off x="6135624" y="5074920"/>
            <a:ext cx="1783080"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13  </a:t>
            </a:r>
            <a:r>
              <a:rPr lang="en-US" sz="1050" b="0">
                <a:solidFill>
                  <a:srgbClr val="202428"/>
                </a:solidFill>
                <a:latin typeface="Segoe UI"/>
              </a:rPr>
              <a:t>Stage 7: lights</a:t>
            </a:r>
          </a:p>
        </p:txBody>
      </p:sp>
      <p:sp>
        <p:nvSpPr>
          <p:cNvPr id="74" name="Figure Caption 14"/>
          <p:cNvSpPr txBox="1"/>
          <p:nvPr/>
        </p:nvSpPr>
        <p:spPr>
          <a:xfrm>
            <a:off x="8028431" y="5074920"/>
            <a:ext cx="1783080"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14  </a:t>
            </a:r>
            <a:r>
              <a:rPr lang="en-US" sz="1050" b="0">
                <a:solidFill>
                  <a:srgbClr val="202428"/>
                </a:solidFill>
                <a:latin typeface="Segoe UI"/>
              </a:rPr>
              <a:t>Stage 10: wheels</a:t>
            </a:r>
          </a:p>
        </p:txBody>
      </p:sp>
      <p:sp>
        <p:nvSpPr>
          <p:cNvPr id="75" name="Figure Caption 15"/>
          <p:cNvSpPr txBox="1"/>
          <p:nvPr/>
        </p:nvSpPr>
        <p:spPr>
          <a:xfrm>
            <a:off x="9921240" y="5074920"/>
            <a:ext cx="1783080"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15  </a:t>
            </a:r>
            <a:r>
              <a:rPr lang="en-US" sz="1050" b="0">
                <a:solidFill>
                  <a:srgbClr val="202428"/>
                </a:solidFill>
                <a:latin typeface="Segoe UI"/>
              </a:rPr>
              <a:t>Final vehicle</a:t>
            </a:r>
          </a:p>
        </p:txBody>
      </p:sp>
      <p:sp>
        <p:nvSpPr>
          <p:cNvPr id="76" name="Equation Panel 76"/>
          <p:cNvSpPr/>
          <p:nvPr/>
        </p:nvSpPr>
        <p:spPr>
          <a:xfrm>
            <a:off x="457200" y="5486400"/>
            <a:ext cx="11247120" cy="114300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KEY EQUATIONS</a:t>
            </a:r>
          </a:p>
          <a:p>
            <a:pPr algn="l">
              <a:spcAft>
                <a:spcPts val="200"/>
              </a:spcAft>
            </a:pPr>
            <a:r>
              <a:rPr lang="en-US" sz="1250" b="0">
                <a:solidFill>
                  <a:srgbClr val="202428"/>
                </a:solidFill>
                <a:latin typeface="Cambria"/>
              </a:rPr>
              <a:t>Flat face normal: n = (P</a:t>
            </a:r>
            <a:r>
              <a:rPr lang="en-US" sz="1250" b="0" baseline="-25000">
                <a:solidFill>
                  <a:srgbClr val="202428"/>
                </a:solidFill>
                <a:latin typeface="Cambria"/>
              </a:rPr>
              <a:t>2</a:t>
            </a:r>
            <a:r>
              <a:rPr lang="en-US" sz="1250" b="0">
                <a:solidFill>
                  <a:srgbClr val="202428"/>
                </a:solidFill>
                <a:latin typeface="Cambria"/>
              </a:rPr>
              <a:t> − P</a:t>
            </a:r>
            <a:r>
              <a:rPr lang="en-US" sz="1250" b="0" baseline="-25000">
                <a:solidFill>
                  <a:srgbClr val="202428"/>
                </a:solidFill>
                <a:latin typeface="Cambria"/>
              </a:rPr>
              <a:t>1</a:t>
            </a:r>
            <a:r>
              <a:rPr lang="en-US" sz="1250" b="0">
                <a:solidFill>
                  <a:srgbClr val="202428"/>
                </a:solidFill>
                <a:latin typeface="Cambria"/>
              </a:rPr>
              <a:t>) × (P</a:t>
            </a:r>
            <a:r>
              <a:rPr lang="en-US" sz="1250" b="0" baseline="-25000">
                <a:solidFill>
                  <a:srgbClr val="202428"/>
                </a:solidFill>
                <a:latin typeface="Cambria"/>
              </a:rPr>
              <a:t>3</a:t>
            </a:r>
            <a:r>
              <a:rPr lang="en-US" sz="1250" b="0">
                <a:solidFill>
                  <a:srgbClr val="202428"/>
                </a:solidFill>
                <a:latin typeface="Cambria"/>
              </a:rPr>
              <a:t> − P</a:t>
            </a:r>
            <a:r>
              <a:rPr lang="en-US" sz="1250" b="0" baseline="-25000">
                <a:solidFill>
                  <a:srgbClr val="202428"/>
                </a:solidFill>
                <a:latin typeface="Cambria"/>
              </a:rPr>
              <a:t>1</a:t>
            </a:r>
            <a:r>
              <a:rPr lang="en-US" sz="1250" b="0">
                <a:solidFill>
                  <a:srgbClr val="202428"/>
                </a:solidFill>
                <a:latin typeface="Cambria"/>
              </a:rPr>
              <a:t>) / ‖(P</a:t>
            </a:r>
            <a:r>
              <a:rPr lang="en-US" sz="1250" b="0" baseline="-25000">
                <a:solidFill>
                  <a:srgbClr val="202428"/>
                </a:solidFill>
                <a:latin typeface="Cambria"/>
              </a:rPr>
              <a:t>2</a:t>
            </a:r>
            <a:r>
              <a:rPr lang="en-US" sz="1250" b="0">
                <a:solidFill>
                  <a:srgbClr val="202428"/>
                </a:solidFill>
                <a:latin typeface="Cambria"/>
              </a:rPr>
              <a:t> − P</a:t>
            </a:r>
            <a:r>
              <a:rPr lang="en-US" sz="1250" b="0" baseline="-25000">
                <a:solidFill>
                  <a:srgbClr val="202428"/>
                </a:solidFill>
                <a:latin typeface="Cambria"/>
              </a:rPr>
              <a:t>1</a:t>
            </a:r>
            <a:r>
              <a:rPr lang="en-US" sz="1250" b="0">
                <a:solidFill>
                  <a:srgbClr val="202428"/>
                </a:solidFill>
                <a:latin typeface="Cambria"/>
              </a:rPr>
              <a:t>) × (P</a:t>
            </a:r>
            <a:r>
              <a:rPr lang="en-US" sz="1250" b="0" baseline="-25000">
                <a:solidFill>
                  <a:srgbClr val="202428"/>
                </a:solidFill>
                <a:latin typeface="Cambria"/>
              </a:rPr>
              <a:t>3</a:t>
            </a:r>
            <a:r>
              <a:rPr lang="en-US" sz="1250" b="0">
                <a:solidFill>
                  <a:srgbClr val="202428"/>
                </a:solidFill>
                <a:latin typeface="Cambria"/>
              </a:rPr>
              <a:t> − P</a:t>
            </a:r>
            <a:r>
              <a:rPr lang="en-US" sz="1250" b="0" baseline="-25000">
                <a:solidFill>
                  <a:srgbClr val="202428"/>
                </a:solidFill>
                <a:latin typeface="Cambria"/>
              </a:rPr>
              <a:t>1</a:t>
            </a:r>
            <a:r>
              <a:rPr lang="en-US" sz="1250" b="0">
                <a:solidFill>
                  <a:srgbClr val="202428"/>
                </a:solidFill>
                <a:latin typeface="Cambria"/>
              </a:rPr>
              <a:t>)‖</a:t>
            </a:r>
          </a:p>
          <a:p>
            <a:pPr algn="l">
              <a:spcAft>
                <a:spcPts val="200"/>
              </a:spcAft>
            </a:pPr>
            <a:r>
              <a:rPr lang="en-US" sz="1250" b="0">
                <a:solidFill>
                  <a:srgbClr val="202428"/>
                </a:solidFill>
                <a:latin typeface="Cambria"/>
              </a:rPr>
              <a:t>Wheel: M</a:t>
            </a:r>
            <a:r>
              <a:rPr lang="en-US" sz="1250" b="0" baseline="-25000">
                <a:solidFill>
                  <a:srgbClr val="202428"/>
                </a:solidFill>
                <a:latin typeface="Cambria"/>
              </a:rPr>
              <a:t>wheel</a:t>
            </a:r>
            <a:r>
              <a:rPr lang="en-US" sz="1250" b="0">
                <a:solidFill>
                  <a:srgbClr val="202428"/>
                </a:solidFill>
                <a:latin typeface="Cambria"/>
              </a:rPr>
              <a:t> = M</a:t>
            </a:r>
            <a:r>
              <a:rPr lang="en-US" sz="1250" b="0" baseline="-25000">
                <a:solidFill>
                  <a:srgbClr val="202428"/>
                </a:solidFill>
                <a:latin typeface="Cambria"/>
              </a:rPr>
              <a:t>car</a:t>
            </a:r>
            <a:r>
              <a:rPr lang="en-US" sz="1250" b="0">
                <a:solidFill>
                  <a:srgbClr val="202428"/>
                </a:solidFill>
                <a:latin typeface="Cambria"/>
              </a:rPr>
              <a:t> · T · R</a:t>
            </a:r>
            <a:r>
              <a:rPr lang="en-US" sz="1250" b="0" baseline="-25000">
                <a:solidFill>
                  <a:srgbClr val="202428"/>
                </a:solidFill>
                <a:latin typeface="Cambria"/>
              </a:rPr>
              <a:t>z</a:t>
            </a:r>
            <a:r>
              <a:rPr lang="en-US" sz="1250" b="0">
                <a:solidFill>
                  <a:srgbClr val="202428"/>
                </a:solidFill>
                <a:latin typeface="Cambria"/>
              </a:rPr>
              <a:t>(90°) · R</a:t>
            </a:r>
            <a:r>
              <a:rPr lang="en-US" sz="1250" b="0" baseline="-25000">
                <a:solidFill>
                  <a:srgbClr val="202428"/>
                </a:solidFill>
                <a:latin typeface="Cambria"/>
              </a:rPr>
              <a:t>y</a:t>
            </a:r>
            <a:r>
              <a:rPr lang="en-US" sz="1250" b="0">
                <a:solidFill>
                  <a:srgbClr val="202428"/>
                </a:solidFill>
                <a:latin typeface="Cambria"/>
              </a:rPr>
              <a:t>(φ),  φ = s / r,  r = 0.450 m</a:t>
            </a:r>
          </a:p>
          <a:p>
            <a:pPr algn="l">
              <a:spcAft>
                <a:spcPts val="200"/>
              </a:spcAft>
            </a:pPr>
            <a:r>
              <a:rPr lang="en-US" sz="1250" b="0">
                <a:solidFill>
                  <a:srgbClr val="202428"/>
                </a:solidFill>
                <a:latin typeface="Cambria"/>
              </a:rPr>
              <a:t>Size: L 5.56 m · W 2.06 m · H 1.79 m · wheelbase 3.46 m;  13 shell batches, 10 stages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200" b="1" i="0">
                <a:solidFill>
                  <a:srgbClr val="202428"/>
                </a:solidFill>
                <a:latin typeface="Segoe UI Semibold"/>
              </a:rPr>
              <a:t>ROBOT, TOOLS &amp; POLISHING</a:t>
            </a:r>
          </a:p>
        </p:txBody>
      </p:sp>
      <p:pic>
        <p:nvPicPr>
          <p:cNvPr id="7" name="Picture 6" descr="robot_vars.png"/>
          <p:cNvPicPr>
            <a:picLocks noChangeAspect="1"/>
          </p:cNvPicPr>
          <p:nvPr/>
        </p:nvPicPr>
        <p:blipFill>
          <a:blip r:embed="rId3"/>
          <a:srcRect/>
          <a:stretch>
            <a:fillRect/>
          </a:stretch>
        </p:blipFill>
        <p:spPr>
          <a:xfrm>
            <a:off x="411480" y="1122883"/>
            <a:ext cx="4937760" cy="3193084"/>
          </a:xfrm>
          <a:prstGeom prst="rect">
            <a:avLst/>
          </a:prstGeom>
          <a:ln w="19050">
            <a:solidFill>
              <a:srgbClr val="A6ADB2"/>
            </a:solidFill>
          </a:ln>
        </p:spPr>
      </p:pic>
      <p:pic>
        <p:nvPicPr>
          <p:cNvPr id="37" name="Picture 36" descr="p1_dirty.jpg"/>
          <p:cNvPicPr>
            <a:picLocks noChangeAspect="1"/>
          </p:cNvPicPr>
          <p:nvPr/>
        </p:nvPicPr>
        <p:blipFill>
          <a:blip r:embed="rId4"/>
          <a:srcRect l="2837" r="2837"/>
          <a:stretch>
            <a:fillRect/>
          </a:stretch>
        </p:blipFill>
        <p:spPr>
          <a:xfrm>
            <a:off x="5486400" y="1005840"/>
            <a:ext cx="2008725" cy="1197864"/>
          </a:xfrm>
          <a:prstGeom prst="rect">
            <a:avLst/>
          </a:prstGeom>
          <a:ln w="31750">
            <a:solidFill>
              <a:srgbClr val="25A9C4"/>
            </a:solidFill>
          </a:ln>
        </p:spPr>
      </p:pic>
      <p:pic>
        <p:nvPicPr>
          <p:cNvPr id="40" name="Picture 39" descr="p3_clean.jpg"/>
          <p:cNvPicPr>
            <a:picLocks noChangeAspect="1"/>
          </p:cNvPicPr>
          <p:nvPr/>
        </p:nvPicPr>
        <p:blipFill>
          <a:blip r:embed="rId5"/>
          <a:srcRect l="2837" r="2837"/>
          <a:stretch>
            <a:fillRect/>
          </a:stretch>
        </p:blipFill>
        <p:spPr>
          <a:xfrm>
            <a:off x="7626096" y="1005840"/>
            <a:ext cx="2008725" cy="1197864"/>
          </a:xfrm>
          <a:prstGeom prst="rect">
            <a:avLst/>
          </a:prstGeom>
          <a:ln w="31750">
            <a:solidFill>
              <a:srgbClr val="A6ADB2"/>
            </a:solidFill>
          </a:ln>
        </p:spPr>
      </p:pic>
      <p:pic>
        <p:nvPicPr>
          <p:cNvPr id="43" name="Picture 42" descr="p5_polished.jpg"/>
          <p:cNvPicPr>
            <a:picLocks noChangeAspect="1"/>
          </p:cNvPicPr>
          <p:nvPr/>
        </p:nvPicPr>
        <p:blipFill>
          <a:blip r:embed="rId6"/>
          <a:srcRect l="2837" r="2837"/>
          <a:stretch>
            <a:fillRect/>
          </a:stretch>
        </p:blipFill>
        <p:spPr>
          <a:xfrm>
            <a:off x="9765792" y="1005840"/>
            <a:ext cx="2008725" cy="1197864"/>
          </a:xfrm>
          <a:prstGeom prst="rect">
            <a:avLst/>
          </a:prstGeom>
          <a:ln w="31750">
            <a:solidFill>
              <a:srgbClr val="D9A525"/>
            </a:solidFill>
          </a:ln>
        </p:spPr>
      </p:pic>
      <p:pic>
        <p:nvPicPr>
          <p:cNvPr id="59" name="Picture 58" descr="tool_scanner_front_dim.png"/>
          <p:cNvPicPr>
            <a:picLocks noChangeAspect="1"/>
          </p:cNvPicPr>
          <p:nvPr/>
        </p:nvPicPr>
        <p:blipFill>
          <a:blip r:embed="rId7"/>
          <a:srcRect/>
          <a:stretch>
            <a:fillRect/>
          </a:stretch>
        </p:blipFill>
        <p:spPr>
          <a:xfrm>
            <a:off x="5486400" y="2735587"/>
            <a:ext cx="1481328" cy="1150612"/>
          </a:xfrm>
          <a:prstGeom prst="rect">
            <a:avLst/>
          </a:prstGeom>
          <a:ln w="15875">
            <a:solidFill>
              <a:srgbClr val="A6ADB2"/>
            </a:solidFill>
          </a:ln>
        </p:spPr>
      </p:pic>
      <p:pic>
        <p:nvPicPr>
          <p:cNvPr id="61" name="Picture 60" descr="tool_driver_front_dim.png"/>
          <p:cNvPicPr>
            <a:picLocks noChangeAspect="1"/>
          </p:cNvPicPr>
          <p:nvPr/>
        </p:nvPicPr>
        <p:blipFill>
          <a:blip r:embed="rId8"/>
          <a:srcRect/>
          <a:stretch>
            <a:fillRect/>
          </a:stretch>
        </p:blipFill>
        <p:spPr>
          <a:xfrm>
            <a:off x="7086600" y="2697480"/>
            <a:ext cx="1223548" cy="1188720"/>
          </a:xfrm>
          <a:prstGeom prst="rect">
            <a:avLst/>
          </a:prstGeom>
          <a:ln w="15875">
            <a:solidFill>
              <a:srgbClr val="A6ADB2"/>
            </a:solidFill>
          </a:ln>
        </p:spPr>
      </p:pic>
      <p:pic>
        <p:nvPicPr>
          <p:cNvPr id="63" name="Picture 62" descr="tool_gripper_front_dim.png"/>
          <p:cNvPicPr>
            <a:picLocks noChangeAspect="1"/>
          </p:cNvPicPr>
          <p:nvPr/>
        </p:nvPicPr>
        <p:blipFill>
          <a:blip r:embed="rId9"/>
          <a:srcRect/>
          <a:stretch>
            <a:fillRect/>
          </a:stretch>
        </p:blipFill>
        <p:spPr>
          <a:xfrm>
            <a:off x="8686800" y="2704722"/>
            <a:ext cx="1481328" cy="1181477"/>
          </a:xfrm>
          <a:prstGeom prst="rect">
            <a:avLst/>
          </a:prstGeom>
          <a:ln w="15875">
            <a:solidFill>
              <a:srgbClr val="A6ADB2"/>
            </a:solidFill>
          </a:ln>
        </p:spPr>
      </p:pic>
      <p:pic>
        <p:nvPicPr>
          <p:cNvPr id="65" name="Picture 64" descr="tool_polisher_front_dim.png"/>
          <p:cNvPicPr>
            <a:picLocks noChangeAspect="1"/>
          </p:cNvPicPr>
          <p:nvPr/>
        </p:nvPicPr>
        <p:blipFill>
          <a:blip r:embed="rId10"/>
          <a:srcRect/>
          <a:stretch>
            <a:fillRect/>
          </a:stretch>
        </p:blipFill>
        <p:spPr>
          <a:xfrm>
            <a:off x="10287000" y="2698674"/>
            <a:ext cx="1481328" cy="1187525"/>
          </a:xfrm>
          <a:prstGeom prst="rect">
            <a:avLst/>
          </a:prstGeom>
          <a:ln w="31750">
            <a:solidFill>
              <a:srgbClr val="D9A525"/>
            </a:solidFill>
          </a:ln>
        </p:spPr>
      </p:pic>
      <p:pic>
        <p:nvPicPr>
          <p:cNvPr id="68" name="Picture 67" descr="tool_exchange_a_release.jpg"/>
          <p:cNvPicPr>
            <a:picLocks noChangeAspect="1"/>
          </p:cNvPicPr>
          <p:nvPr/>
        </p:nvPicPr>
        <p:blipFill>
          <a:blip r:embed="rId11"/>
          <a:srcRect l="13393" r="13393"/>
          <a:stretch>
            <a:fillRect/>
          </a:stretch>
        </p:blipFill>
        <p:spPr>
          <a:xfrm>
            <a:off x="5486400" y="4389120"/>
            <a:ext cx="2011389" cy="1545336"/>
          </a:xfrm>
          <a:prstGeom prst="rect">
            <a:avLst/>
          </a:prstGeom>
          <a:ln w="19050">
            <a:solidFill>
              <a:srgbClr val="A6ADB2"/>
            </a:solidFill>
          </a:ln>
        </p:spPr>
      </p:pic>
      <p:pic>
        <p:nvPicPr>
          <p:cNvPr id="71" name="Picture 70" descr="tool_exchange_b_bare.jpg"/>
          <p:cNvPicPr>
            <a:picLocks noChangeAspect="1"/>
          </p:cNvPicPr>
          <p:nvPr/>
        </p:nvPicPr>
        <p:blipFill>
          <a:blip r:embed="rId12"/>
          <a:srcRect l="13393" r="13393"/>
          <a:stretch>
            <a:fillRect/>
          </a:stretch>
        </p:blipFill>
        <p:spPr>
          <a:xfrm>
            <a:off x="7626096" y="4389120"/>
            <a:ext cx="2011389" cy="1545336"/>
          </a:xfrm>
          <a:prstGeom prst="rect">
            <a:avLst/>
          </a:prstGeom>
          <a:ln w="19050">
            <a:solidFill>
              <a:srgbClr val="A6ADB2"/>
            </a:solidFill>
          </a:ln>
        </p:spPr>
      </p:pic>
      <p:pic>
        <p:nvPicPr>
          <p:cNvPr id="74" name="Picture 73" descr="tool_exchange_c_grasp.jpg"/>
          <p:cNvPicPr>
            <a:picLocks noChangeAspect="1"/>
          </p:cNvPicPr>
          <p:nvPr/>
        </p:nvPicPr>
        <p:blipFill>
          <a:blip r:embed="rId13"/>
          <a:srcRect l="13393" r="13393"/>
          <a:stretch>
            <a:fillRect/>
          </a:stretch>
        </p:blipFill>
        <p:spPr>
          <a:xfrm>
            <a:off x="9765792" y="4389120"/>
            <a:ext cx="2011389" cy="1545336"/>
          </a:xfrm>
          <a:prstGeom prst="rect">
            <a:avLst/>
          </a:prstGeom>
          <a:ln w="19050">
            <a:solidFill>
              <a:srgbClr val="D9A525"/>
            </a:solidFill>
          </a:ln>
        </p:spPr>
      </p:pic>
      <p:sp>
        <p:nvSpPr>
          <p:cNvPr id="86" name="Figure Caption 16"/>
          <p:cNvSpPr txBox="1"/>
          <p:nvPr/>
        </p:nvSpPr>
        <p:spPr>
          <a:xfrm>
            <a:off x="411480" y="4361688"/>
            <a:ext cx="493776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16  </a:t>
            </a:r>
            <a:r>
              <a:rPr lang="en-US" sz="1200" b="0">
                <a:solidFill>
                  <a:srgbClr val="202428"/>
                </a:solidFill>
                <a:latin typeface="Segoe UI"/>
              </a:rPr>
              <a:t>Robot arm joints and current pose</a:t>
            </a:r>
          </a:p>
        </p:txBody>
      </p:sp>
      <p:sp>
        <p:nvSpPr>
          <p:cNvPr id="87" name="Figure Caption 17"/>
          <p:cNvSpPr txBox="1"/>
          <p:nvPr/>
        </p:nvSpPr>
        <p:spPr>
          <a:xfrm>
            <a:off x="5486400" y="2249424"/>
            <a:ext cx="2008725"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17  </a:t>
            </a:r>
            <a:r>
              <a:rPr lang="en-US" sz="1100" b="0">
                <a:solidFill>
                  <a:srgbClr val="202428"/>
                </a:solidFill>
                <a:latin typeface="Segoe UI"/>
              </a:rPr>
              <a:t>Sponge: grime</a:t>
            </a:r>
          </a:p>
        </p:txBody>
      </p:sp>
      <p:sp>
        <p:nvSpPr>
          <p:cNvPr id="88" name="Figure Caption 18"/>
          <p:cNvSpPr txBox="1"/>
          <p:nvPr/>
        </p:nvSpPr>
        <p:spPr>
          <a:xfrm>
            <a:off x="7626096" y="2249424"/>
            <a:ext cx="2008725"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18  </a:t>
            </a:r>
            <a:r>
              <a:rPr lang="en-US" sz="1100" b="0">
                <a:solidFill>
                  <a:srgbClr val="202428"/>
                </a:solidFill>
                <a:latin typeface="Segoe UI"/>
              </a:rPr>
              <a:t>Clean surface</a:t>
            </a:r>
          </a:p>
        </p:txBody>
      </p:sp>
      <p:sp>
        <p:nvSpPr>
          <p:cNvPr id="89" name="Figure Caption 19"/>
          <p:cNvSpPr txBox="1"/>
          <p:nvPr/>
        </p:nvSpPr>
        <p:spPr>
          <a:xfrm>
            <a:off x="9765792" y="2249424"/>
            <a:ext cx="2008725"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19  </a:t>
            </a:r>
            <a:r>
              <a:rPr lang="en-US" sz="1100" b="0">
                <a:solidFill>
                  <a:srgbClr val="202428"/>
                </a:solidFill>
                <a:latin typeface="Segoe UI"/>
              </a:rPr>
              <a:t>Polisher: shine</a:t>
            </a:r>
          </a:p>
        </p:txBody>
      </p:sp>
      <p:sp>
        <p:nvSpPr>
          <p:cNvPr id="90" name="Figure Caption 20"/>
          <p:cNvSpPr txBox="1"/>
          <p:nvPr/>
        </p:nvSpPr>
        <p:spPr>
          <a:xfrm>
            <a:off x="5486400" y="3931920"/>
            <a:ext cx="1481328"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20  </a:t>
            </a:r>
            <a:r>
              <a:rPr lang="en-US" sz="1050" b="0">
                <a:solidFill>
                  <a:srgbClr val="202428"/>
                </a:solidFill>
                <a:latin typeface="Segoe UI"/>
              </a:rPr>
              <a:t>Scanner</a:t>
            </a:r>
          </a:p>
        </p:txBody>
      </p:sp>
      <p:sp>
        <p:nvSpPr>
          <p:cNvPr id="91" name="Figure Caption 21"/>
          <p:cNvSpPr txBox="1"/>
          <p:nvPr/>
        </p:nvSpPr>
        <p:spPr>
          <a:xfrm>
            <a:off x="7086600" y="3931920"/>
            <a:ext cx="1223548"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21  </a:t>
            </a:r>
            <a:r>
              <a:rPr lang="en-US" sz="1050" b="0">
                <a:solidFill>
                  <a:srgbClr val="202428"/>
                </a:solidFill>
                <a:latin typeface="Segoe UI"/>
              </a:rPr>
              <a:t>Driver</a:t>
            </a:r>
          </a:p>
        </p:txBody>
      </p:sp>
      <p:sp>
        <p:nvSpPr>
          <p:cNvPr id="92" name="Figure Caption 22"/>
          <p:cNvSpPr txBox="1"/>
          <p:nvPr/>
        </p:nvSpPr>
        <p:spPr>
          <a:xfrm>
            <a:off x="8686800" y="3931920"/>
            <a:ext cx="1481328"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22  </a:t>
            </a:r>
            <a:r>
              <a:rPr lang="en-US" sz="1050" b="0">
                <a:solidFill>
                  <a:srgbClr val="202428"/>
                </a:solidFill>
                <a:latin typeface="Segoe UI"/>
              </a:rPr>
              <a:t>Gripper</a:t>
            </a:r>
          </a:p>
        </p:txBody>
      </p:sp>
      <p:sp>
        <p:nvSpPr>
          <p:cNvPr id="93" name="Figure Caption 23"/>
          <p:cNvSpPr txBox="1"/>
          <p:nvPr/>
        </p:nvSpPr>
        <p:spPr>
          <a:xfrm>
            <a:off x="10287000" y="3931920"/>
            <a:ext cx="1481328" cy="226695"/>
          </a:xfrm>
          <a:prstGeom prst="rect">
            <a:avLst/>
          </a:prstGeom>
          <a:noFill/>
        </p:spPr>
        <p:txBody>
          <a:bodyPr wrap="square" lIns="0" tIns="18288" rIns="0" bIns="18288" anchor="t">
            <a:noAutofit/>
          </a:bodyPr>
          <a:lstStyle/>
          <a:p>
            <a:pPr algn="l"/>
            <a:r>
              <a:rPr lang="en-US" sz="1050" b="1">
                <a:solidFill>
                  <a:srgbClr val="1B8BA3"/>
                </a:solidFill>
                <a:latin typeface="Segoe UI Semibold"/>
              </a:rPr>
              <a:t>Fig. 23  </a:t>
            </a:r>
            <a:r>
              <a:rPr lang="en-US" sz="1050" b="0">
                <a:solidFill>
                  <a:srgbClr val="202428"/>
                </a:solidFill>
                <a:latin typeface="Segoe UI"/>
              </a:rPr>
              <a:t>Polisher</a:t>
            </a:r>
          </a:p>
        </p:txBody>
      </p:sp>
      <p:sp>
        <p:nvSpPr>
          <p:cNvPr id="94" name="Figure Caption 24"/>
          <p:cNvSpPr txBox="1"/>
          <p:nvPr/>
        </p:nvSpPr>
        <p:spPr>
          <a:xfrm>
            <a:off x="5486400" y="5980176"/>
            <a:ext cx="2011389"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24  </a:t>
            </a:r>
            <a:r>
              <a:rPr lang="en-US" sz="1100" b="0">
                <a:solidFill>
                  <a:srgbClr val="202428"/>
                </a:solidFill>
                <a:latin typeface="Segoe UI"/>
              </a:rPr>
              <a:t>Tool docked</a:t>
            </a:r>
          </a:p>
        </p:txBody>
      </p:sp>
      <p:sp>
        <p:nvSpPr>
          <p:cNvPr id="95" name="Figure Caption 25"/>
          <p:cNvSpPr txBox="1"/>
          <p:nvPr/>
        </p:nvSpPr>
        <p:spPr>
          <a:xfrm>
            <a:off x="7626096" y="5980176"/>
            <a:ext cx="2011389"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25  </a:t>
            </a:r>
            <a:r>
              <a:rPr lang="en-US" sz="1100" b="0">
                <a:solidFill>
                  <a:srgbClr val="202428"/>
                </a:solidFill>
                <a:latin typeface="Segoe UI"/>
              </a:rPr>
              <a:t>Tool bare</a:t>
            </a:r>
          </a:p>
        </p:txBody>
      </p:sp>
      <p:sp>
        <p:nvSpPr>
          <p:cNvPr id="96" name="Figure Caption 26"/>
          <p:cNvSpPr txBox="1"/>
          <p:nvPr/>
        </p:nvSpPr>
        <p:spPr>
          <a:xfrm>
            <a:off x="9765792" y="5980176"/>
            <a:ext cx="2011389" cy="237490"/>
          </a:xfrm>
          <a:prstGeom prst="rect">
            <a:avLst/>
          </a:prstGeom>
          <a:noFill/>
        </p:spPr>
        <p:txBody>
          <a:bodyPr wrap="square" lIns="0" tIns="18288" rIns="0" bIns="18288" anchor="t">
            <a:noAutofit/>
          </a:bodyPr>
          <a:lstStyle/>
          <a:p>
            <a:pPr algn="l"/>
            <a:r>
              <a:rPr lang="en-US" sz="1100" b="1">
                <a:solidFill>
                  <a:srgbClr val="1B8BA3"/>
                </a:solidFill>
                <a:latin typeface="Segoe UI Semibold"/>
              </a:rPr>
              <a:t>Fig. 26  </a:t>
            </a:r>
            <a:r>
              <a:rPr lang="en-US" sz="1100" b="0">
                <a:solidFill>
                  <a:srgbClr val="202428"/>
                </a:solidFill>
                <a:latin typeface="Segoe UI"/>
              </a:rPr>
              <a:t>New tool</a:t>
            </a:r>
          </a:p>
        </p:txBody>
      </p:sp>
      <p:sp>
        <p:nvSpPr>
          <p:cNvPr id="97" name="Equation Panel 97"/>
          <p:cNvSpPr/>
          <p:nvPr/>
        </p:nvSpPr>
        <p:spPr>
          <a:xfrm>
            <a:off x="411480" y="4754880"/>
            <a:ext cx="4937760" cy="1874519"/>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KEY EQUATIONS</a:t>
            </a:r>
          </a:p>
          <a:p>
            <a:pPr algn="l">
              <a:spcAft>
                <a:spcPts val="200"/>
              </a:spcAft>
            </a:pPr>
            <a:r>
              <a:rPr lang="en-US" sz="1250" b="0">
                <a:solidFill>
                  <a:srgbClr val="202428"/>
                </a:solidFill>
                <a:latin typeface="Cambria"/>
              </a:rPr>
              <a:t>M</a:t>
            </a:r>
            <a:r>
              <a:rPr lang="en-US" sz="1250" b="0" baseline="-25000">
                <a:solidFill>
                  <a:srgbClr val="202428"/>
                </a:solidFill>
                <a:latin typeface="Cambria"/>
              </a:rPr>
              <a:t>child</a:t>
            </a:r>
            <a:r>
              <a:rPr lang="en-US" sz="1250" b="0">
                <a:solidFill>
                  <a:srgbClr val="202428"/>
                </a:solidFill>
                <a:latin typeface="Cambria"/>
              </a:rPr>
              <a:t> = M</a:t>
            </a:r>
            <a:r>
              <a:rPr lang="en-US" sz="1250" b="0" baseline="-25000">
                <a:solidFill>
                  <a:srgbClr val="202428"/>
                </a:solidFill>
                <a:latin typeface="Cambria"/>
              </a:rPr>
              <a:t>parent</a:t>
            </a:r>
            <a:r>
              <a:rPr lang="en-US" sz="1250" b="0">
                <a:solidFill>
                  <a:srgbClr val="202428"/>
                </a:solidFill>
                <a:latin typeface="Cambria"/>
              </a:rPr>
              <a:t> · M</a:t>
            </a:r>
            <a:r>
              <a:rPr lang="en-US" sz="1250" b="0" baseline="-25000">
                <a:solidFill>
                  <a:srgbClr val="202428"/>
                </a:solidFill>
                <a:latin typeface="Cambria"/>
              </a:rPr>
              <a:t>local</a:t>
            </a:r>
          </a:p>
          <a:p>
            <a:pPr algn="l">
              <a:spcAft>
                <a:spcPts val="200"/>
              </a:spcAft>
            </a:pPr>
            <a:r>
              <a:rPr lang="en-US" sz="1250" b="0">
                <a:solidFill>
                  <a:srgbClr val="202428"/>
                </a:solidFill>
                <a:latin typeface="Cambria"/>
              </a:rPr>
              <a:t>End point: E = (−L</a:t>
            </a:r>
            <a:r>
              <a:rPr lang="en-US" sz="1250" b="0" baseline="-25000">
                <a:solidFill>
                  <a:srgbClr val="202428"/>
                </a:solidFill>
                <a:latin typeface="Cambria"/>
              </a:rPr>
              <a:t>1</a:t>
            </a:r>
            <a:r>
              <a:rPr lang="en-US" sz="1250" b="0">
                <a:solidFill>
                  <a:srgbClr val="202428"/>
                </a:solidFill>
                <a:latin typeface="Cambria"/>
              </a:rPr>
              <a:t> sinθ</a:t>
            </a:r>
            <a:r>
              <a:rPr lang="en-US" sz="1250" b="0" baseline="-25000">
                <a:solidFill>
                  <a:srgbClr val="202428"/>
                </a:solidFill>
                <a:latin typeface="Cambria"/>
              </a:rPr>
              <a:t>1</a:t>
            </a:r>
            <a:r>
              <a:rPr lang="en-US" sz="1250" b="0">
                <a:solidFill>
                  <a:srgbClr val="202428"/>
                </a:solidFill>
                <a:latin typeface="Cambria"/>
              </a:rPr>
              <a:t>, 1.05 + L</a:t>
            </a:r>
            <a:r>
              <a:rPr lang="en-US" sz="1250" b="0" baseline="-25000">
                <a:solidFill>
                  <a:srgbClr val="202428"/>
                </a:solidFill>
                <a:latin typeface="Cambria"/>
              </a:rPr>
              <a:t>1</a:t>
            </a:r>
            <a:r>
              <a:rPr lang="en-US" sz="1250" b="0">
                <a:solidFill>
                  <a:srgbClr val="202428"/>
                </a:solidFill>
                <a:latin typeface="Cambria"/>
              </a:rPr>
              <a:t> cosθ</a:t>
            </a:r>
            <a:r>
              <a:rPr lang="en-US" sz="1250" b="0" baseline="-25000">
                <a:solidFill>
                  <a:srgbClr val="202428"/>
                </a:solidFill>
                <a:latin typeface="Cambria"/>
              </a:rPr>
              <a:t>1</a:t>
            </a:r>
            <a:r>
              <a:rPr lang="en-US" sz="1250" b="0">
                <a:solidFill>
                  <a:srgbClr val="202428"/>
                </a:solidFill>
                <a:latin typeface="Cambria"/>
              </a:rPr>
              <a:t>)</a:t>
            </a:r>
          </a:p>
          <a:p>
            <a:pPr algn="l">
              <a:spcAft>
                <a:spcPts val="200"/>
              </a:spcAft>
            </a:pPr>
            <a:r>
              <a:rPr lang="en-US" sz="1250" b="0">
                <a:solidFill>
                  <a:srgbClr val="202428"/>
                </a:solidFill>
                <a:latin typeface="Cambria"/>
              </a:rPr>
              <a:t>L</a:t>
            </a:r>
            <a:r>
              <a:rPr lang="en-US" sz="1250" b="0" baseline="-25000">
                <a:solidFill>
                  <a:srgbClr val="202428"/>
                </a:solidFill>
                <a:latin typeface="Cambria"/>
              </a:rPr>
              <a:t>1</a:t>
            </a:r>
            <a:r>
              <a:rPr lang="en-US" sz="1250" b="0">
                <a:solidFill>
                  <a:srgbClr val="202428"/>
                </a:solidFill>
                <a:latin typeface="Cambria"/>
              </a:rPr>
              <a:t> = 4.5,  L</a:t>
            </a:r>
            <a:r>
              <a:rPr lang="en-US" sz="1250" b="0" baseline="-25000">
                <a:solidFill>
                  <a:srgbClr val="202428"/>
                </a:solidFill>
                <a:latin typeface="Cambria"/>
              </a:rPr>
              <a:t>2</a:t>
            </a:r>
            <a:r>
              <a:rPr lang="en-US" sz="1250" b="0">
                <a:solidFill>
                  <a:srgbClr val="202428"/>
                </a:solidFill>
                <a:latin typeface="Cambria"/>
              </a:rPr>
              <a:t> = 4.0</a:t>
            </a:r>
          </a:p>
          <a:p>
            <a:pPr algn="l">
              <a:spcAft>
                <a:spcPts val="200"/>
              </a:spcAft>
            </a:pPr>
            <a:r>
              <a:rPr lang="en-US" sz="1250" b="0">
                <a:solidFill>
                  <a:srgbClr val="202428"/>
                </a:solidFill>
                <a:latin typeface="Cambria"/>
              </a:rPr>
              <a:t>Polish: r′ = mix(r, 0.34r + 0.03, p),  0.40 → 0.166</a:t>
            </a:r>
          </a:p>
          <a:p>
            <a:pPr algn="l">
              <a:spcAft>
                <a:spcPts val="200"/>
              </a:spcAft>
            </a:pPr>
            <a:r>
              <a:rPr lang="en-US" sz="1250" b="0">
                <a:solidFill>
                  <a:srgbClr val="202428"/>
                </a:solidFill>
                <a:latin typeface="Cambria"/>
              </a:rPr>
              <a:t>Keys: U/J shoulder · I/K elbow · Y/H wrist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000" b="1" i="0">
                <a:solidFill>
                  <a:srgbClr val="202428"/>
                </a:solidFill>
                <a:latin typeface="Segoe UI Semibold"/>
              </a:rPr>
              <a:t>LIFT, DOOR, RAMP &amp; CURVES</a:t>
            </a:r>
          </a:p>
        </p:txBody>
      </p:sp>
      <p:pic>
        <p:nvPicPr>
          <p:cNvPr id="20" name="Picture 19" descr="lift_raised.jpg"/>
          <p:cNvPicPr>
            <a:picLocks noChangeAspect="1"/>
          </p:cNvPicPr>
          <p:nvPr/>
        </p:nvPicPr>
        <p:blipFill>
          <a:blip r:embed="rId3"/>
          <a:srcRect l="12460" r="12460"/>
          <a:stretch>
            <a:fillRect/>
          </a:stretch>
        </p:blipFill>
        <p:spPr>
          <a:xfrm>
            <a:off x="411480" y="1005840"/>
            <a:ext cx="3014614" cy="2258568"/>
          </a:xfrm>
          <a:prstGeom prst="rect">
            <a:avLst/>
          </a:prstGeom>
          <a:ln w="15875">
            <a:solidFill>
              <a:srgbClr val="A6ADB2"/>
            </a:solidFill>
          </a:ln>
        </p:spPr>
      </p:pic>
      <p:pic>
        <p:nvPicPr>
          <p:cNvPr id="23" name="Picture 22" descr="door_closed.jpg"/>
          <p:cNvPicPr>
            <a:picLocks noChangeAspect="1"/>
          </p:cNvPicPr>
          <p:nvPr/>
        </p:nvPicPr>
        <p:blipFill>
          <a:blip r:embed="rId4"/>
          <a:srcRect l="12917" r="12917"/>
          <a:stretch>
            <a:fillRect/>
          </a:stretch>
        </p:blipFill>
        <p:spPr>
          <a:xfrm>
            <a:off x="3611880" y="1287916"/>
            <a:ext cx="2606040" cy="1976491"/>
          </a:xfrm>
          <a:prstGeom prst="rect">
            <a:avLst/>
          </a:prstGeom>
          <a:ln w="15875">
            <a:solidFill>
              <a:srgbClr val="A6ADB2"/>
            </a:solidFill>
          </a:ln>
        </p:spPr>
      </p:pic>
      <p:pic>
        <p:nvPicPr>
          <p:cNvPr id="26" name="Picture 25" descr="door_half.jpg"/>
          <p:cNvPicPr>
            <a:picLocks noChangeAspect="1"/>
          </p:cNvPicPr>
          <p:nvPr/>
        </p:nvPicPr>
        <p:blipFill>
          <a:blip r:embed="rId5"/>
          <a:srcRect l="12917" r="12917"/>
          <a:stretch>
            <a:fillRect/>
          </a:stretch>
        </p:blipFill>
        <p:spPr>
          <a:xfrm>
            <a:off x="6309360" y="1287916"/>
            <a:ext cx="2606040" cy="1976491"/>
          </a:xfrm>
          <a:prstGeom prst="rect">
            <a:avLst/>
          </a:prstGeom>
          <a:ln w="15875">
            <a:solidFill>
              <a:srgbClr val="A6ADB2"/>
            </a:solidFill>
          </a:ln>
        </p:spPr>
      </p:pic>
      <p:pic>
        <p:nvPicPr>
          <p:cNvPr id="29" name="Picture 28" descr="door_open.jpg"/>
          <p:cNvPicPr>
            <a:picLocks noChangeAspect="1"/>
          </p:cNvPicPr>
          <p:nvPr/>
        </p:nvPicPr>
        <p:blipFill>
          <a:blip r:embed="rId6"/>
          <a:srcRect l="12917" r="12917"/>
          <a:stretch>
            <a:fillRect/>
          </a:stretch>
        </p:blipFill>
        <p:spPr>
          <a:xfrm>
            <a:off x="9006840" y="1287916"/>
            <a:ext cx="2606040" cy="1976491"/>
          </a:xfrm>
          <a:prstGeom prst="rect">
            <a:avLst/>
          </a:prstGeom>
          <a:ln w="15875">
            <a:solidFill>
              <a:srgbClr val="A6ADB2"/>
            </a:solidFill>
          </a:ln>
        </p:spPr>
      </p:pic>
      <p:pic>
        <p:nvPicPr>
          <p:cNvPr id="46" name="Picture 45" descr="bezier_hoses.jpg"/>
          <p:cNvPicPr>
            <a:picLocks noChangeAspect="1"/>
          </p:cNvPicPr>
          <p:nvPr/>
        </p:nvPicPr>
        <p:blipFill>
          <a:blip r:embed="rId8"/>
          <a:srcRect l="781" r="781"/>
          <a:stretch>
            <a:fillRect/>
          </a:stretch>
        </p:blipFill>
        <p:spPr>
          <a:xfrm>
            <a:off x="411480" y="3611880"/>
            <a:ext cx="2848356" cy="1627632"/>
          </a:xfrm>
          <a:prstGeom prst="rect">
            <a:avLst/>
          </a:prstGeom>
          <a:ln w="15875">
            <a:solidFill>
              <a:srgbClr val="A6ADB2"/>
            </a:solidFill>
          </a:ln>
        </p:spPr>
      </p:pic>
      <p:pic>
        <p:nvPicPr>
          <p:cNvPr id="49" name="Picture 48" descr="ramp.jpg"/>
          <p:cNvPicPr>
            <a:picLocks noChangeAspect="1"/>
          </p:cNvPicPr>
          <p:nvPr/>
        </p:nvPicPr>
        <p:blipFill>
          <a:blip r:embed="rId9"/>
          <a:srcRect l="2022" r="2022"/>
          <a:stretch>
            <a:fillRect/>
          </a:stretch>
        </p:blipFill>
        <p:spPr>
          <a:xfrm>
            <a:off x="4297680" y="3611880"/>
            <a:ext cx="2776548" cy="1627632"/>
          </a:xfrm>
          <a:prstGeom prst="rect">
            <a:avLst/>
          </a:prstGeom>
          <a:ln w="15875">
            <a:solidFill>
              <a:srgbClr val="A6ADB2"/>
            </a:solidFill>
          </a:ln>
        </p:spPr>
      </p:pic>
      <p:pic>
        <p:nvPicPr>
          <p:cNvPr id="50" name="Picture 49" descr="turntable.jpg"/>
          <p:cNvPicPr>
            <a:picLocks noChangeAspect="1"/>
          </p:cNvPicPr>
          <p:nvPr/>
        </p:nvPicPr>
        <p:blipFill>
          <a:blip r:embed="rId10"/>
          <a:srcRect l="2022" r="2022"/>
          <a:stretch>
            <a:fillRect/>
          </a:stretch>
        </p:blipFill>
        <p:spPr>
          <a:xfrm>
            <a:off x="8183879" y="3611880"/>
            <a:ext cx="2776548" cy="1627632"/>
          </a:xfrm>
          <a:prstGeom prst="rect">
            <a:avLst/>
          </a:prstGeom>
          <a:ln w="15875">
            <a:solidFill>
              <a:srgbClr val="A6ADB2"/>
            </a:solidFill>
          </a:ln>
        </p:spPr>
      </p:pic>
      <p:sp>
        <p:nvSpPr>
          <p:cNvPr id="58" name="Figure Caption 27"/>
          <p:cNvSpPr txBox="1"/>
          <p:nvPr/>
        </p:nvSpPr>
        <p:spPr>
          <a:xfrm>
            <a:off x="411480" y="3310128"/>
            <a:ext cx="3014614"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27  </a:t>
            </a:r>
            <a:r>
              <a:rPr lang="en-US" sz="1200" b="0">
                <a:solidFill>
                  <a:srgbClr val="202428"/>
                </a:solidFill>
                <a:latin typeface="Segoe UI"/>
              </a:rPr>
              <a:t>Scissor lift</a:t>
            </a:r>
          </a:p>
        </p:txBody>
      </p:sp>
      <p:sp>
        <p:nvSpPr>
          <p:cNvPr id="59" name="Figure Caption 28"/>
          <p:cNvSpPr txBox="1"/>
          <p:nvPr/>
        </p:nvSpPr>
        <p:spPr>
          <a:xfrm>
            <a:off x="3611880" y="3310128"/>
            <a:ext cx="260604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28  </a:t>
            </a:r>
            <a:r>
              <a:rPr lang="en-US" sz="1200" b="0">
                <a:solidFill>
                  <a:srgbClr val="202428"/>
                </a:solidFill>
                <a:latin typeface="Segoe UI"/>
              </a:rPr>
              <a:t>Roller door closed</a:t>
            </a:r>
          </a:p>
        </p:txBody>
      </p:sp>
      <p:sp>
        <p:nvSpPr>
          <p:cNvPr id="60" name="Figure Caption 29"/>
          <p:cNvSpPr txBox="1"/>
          <p:nvPr/>
        </p:nvSpPr>
        <p:spPr>
          <a:xfrm>
            <a:off x="6309360" y="3310128"/>
            <a:ext cx="260604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29  </a:t>
            </a:r>
            <a:r>
              <a:rPr lang="en-US" sz="1200" b="0">
                <a:solidFill>
                  <a:srgbClr val="202428"/>
                </a:solidFill>
                <a:latin typeface="Segoe UI"/>
              </a:rPr>
              <a:t>Roller door winding</a:t>
            </a:r>
          </a:p>
        </p:txBody>
      </p:sp>
      <p:sp>
        <p:nvSpPr>
          <p:cNvPr id="61" name="Figure Caption 30"/>
          <p:cNvSpPr txBox="1"/>
          <p:nvPr/>
        </p:nvSpPr>
        <p:spPr>
          <a:xfrm>
            <a:off x="9006840" y="3310128"/>
            <a:ext cx="260604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30  </a:t>
            </a:r>
            <a:r>
              <a:rPr lang="en-US" sz="1200" b="0">
                <a:solidFill>
                  <a:srgbClr val="202428"/>
                </a:solidFill>
                <a:latin typeface="Segoe UI"/>
              </a:rPr>
              <a:t>Roller door open</a:t>
            </a:r>
          </a:p>
        </p:txBody>
      </p:sp>
      <p:sp>
        <p:nvSpPr>
          <p:cNvPr id="62" name="Figure Caption 31"/>
          <p:cNvSpPr txBox="1"/>
          <p:nvPr/>
        </p:nvSpPr>
        <p:spPr>
          <a:xfrm>
            <a:off x="411480" y="5285232"/>
            <a:ext cx="2848356"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31  </a:t>
            </a:r>
            <a:r>
              <a:rPr lang="en-US" sz="1200" b="0">
                <a:solidFill>
                  <a:srgbClr val="202428"/>
                </a:solidFill>
                <a:latin typeface="Segoe UI"/>
              </a:rPr>
              <a:t>Bézier hose</a:t>
            </a:r>
          </a:p>
        </p:txBody>
      </p:sp>
      <p:sp>
        <p:nvSpPr>
          <p:cNvPr id="63" name="Figure Caption 32"/>
          <p:cNvSpPr txBox="1"/>
          <p:nvPr/>
        </p:nvSpPr>
        <p:spPr>
          <a:xfrm>
            <a:off x="4297680" y="5285232"/>
            <a:ext cx="2776548"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32  </a:t>
            </a:r>
            <a:r>
              <a:rPr lang="en-US" sz="1200" b="0">
                <a:solidFill>
                  <a:srgbClr val="202428"/>
                </a:solidFill>
                <a:latin typeface="Segoe UI"/>
              </a:rPr>
              <a:t>Entry ramp</a:t>
            </a:r>
          </a:p>
        </p:txBody>
      </p:sp>
      <p:sp>
        <p:nvSpPr>
          <p:cNvPr id="64" name="Figure Caption 33"/>
          <p:cNvSpPr txBox="1"/>
          <p:nvPr/>
        </p:nvSpPr>
        <p:spPr>
          <a:xfrm>
            <a:off x="8183879" y="5285232"/>
            <a:ext cx="2776548"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33  </a:t>
            </a:r>
            <a:r>
              <a:rPr lang="en-US" sz="1200" b="0">
                <a:solidFill>
                  <a:srgbClr val="202428"/>
                </a:solidFill>
                <a:latin typeface="Segoe UI"/>
              </a:rPr>
              <a:t>Turntable</a:t>
            </a:r>
          </a:p>
        </p:txBody>
      </p:sp>
      <p:sp>
        <p:nvSpPr>
          <p:cNvPr id="65" name="Equation Panel 65"/>
          <p:cNvSpPr/>
          <p:nvPr/>
        </p:nvSpPr>
        <p:spPr>
          <a:xfrm>
            <a:off x="411480" y="5669280"/>
            <a:ext cx="5577840" cy="96012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LIFT &amp; DOOR</a:t>
            </a:r>
          </a:p>
          <a:p>
            <a:pPr algn="l">
              <a:spcAft>
                <a:spcPts val="200"/>
              </a:spcAft>
            </a:pPr>
            <a:r>
              <a:rPr lang="en-US" sz="1200" b="0">
                <a:solidFill>
                  <a:srgbClr val="202428"/>
                </a:solidFill>
                <a:latin typeface="Cambria"/>
              </a:rPr>
              <a:t>θ = asin((0.58 + h) / 2L),  L = 3.30 m, h = 1.10 m → 14.75°</a:t>
            </a:r>
          </a:p>
          <a:p>
            <a:pPr algn="l">
              <a:spcAft>
                <a:spcPts val="200"/>
              </a:spcAft>
            </a:pPr>
            <a:r>
              <a:rPr lang="en-US" sz="1200" b="0">
                <a:solidFill>
                  <a:srgbClr val="202428"/>
                </a:solidFill>
                <a:latin typeface="Cambria"/>
              </a:rPr>
              <a:t>Door: α = over / R,  R = 0.52 m,  offset 0 … 4.9 m</a:t>
            </a:r>
          </a:p>
        </p:txBody>
      </p:sp>
      <p:sp>
        <p:nvSpPr>
          <p:cNvPr id="66" name="Equation Panel 66"/>
          <p:cNvSpPr/>
          <p:nvPr/>
        </p:nvSpPr>
        <p:spPr>
          <a:xfrm>
            <a:off x="6126480" y="5669280"/>
            <a:ext cx="5650992" cy="96012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HOSE &amp; RAMP</a:t>
            </a:r>
          </a:p>
          <a:p>
            <a:pPr algn="l">
              <a:spcAft>
                <a:spcPts val="200"/>
              </a:spcAft>
            </a:pPr>
            <a:r>
              <a:rPr lang="en-US" sz="1200" b="0">
                <a:solidFill>
                  <a:srgbClr val="202428"/>
                </a:solidFill>
                <a:latin typeface="Cambria"/>
              </a:rPr>
              <a:t>B(t) = (1−t)</a:t>
            </a:r>
            <a:r>
              <a:rPr lang="en-US" sz="1200" b="0" baseline="30000">
                <a:solidFill>
                  <a:srgbClr val="202428"/>
                </a:solidFill>
                <a:latin typeface="Cambria"/>
              </a:rPr>
              <a:t>3</a:t>
            </a:r>
            <a:r>
              <a:rPr lang="en-US" sz="1200" b="0">
                <a:solidFill>
                  <a:srgbClr val="202428"/>
                </a:solidFill>
                <a:latin typeface="Cambria"/>
              </a:rPr>
              <a:t> P</a:t>
            </a:r>
            <a:r>
              <a:rPr lang="en-US" sz="1200" b="0" baseline="-25000">
                <a:solidFill>
                  <a:srgbClr val="202428"/>
                </a:solidFill>
                <a:latin typeface="Cambria"/>
              </a:rPr>
              <a:t>0</a:t>
            </a:r>
            <a:r>
              <a:rPr lang="en-US" sz="1200" b="0">
                <a:solidFill>
                  <a:srgbClr val="202428"/>
                </a:solidFill>
                <a:latin typeface="Cambria"/>
              </a:rPr>
              <a:t> + 3(1−t)</a:t>
            </a:r>
            <a:r>
              <a:rPr lang="en-US" sz="1200" b="0" baseline="30000">
                <a:solidFill>
                  <a:srgbClr val="202428"/>
                </a:solidFill>
                <a:latin typeface="Cambria"/>
              </a:rPr>
              <a:t>2</a:t>
            </a:r>
            <a:r>
              <a:rPr lang="en-US" sz="1200" b="0">
                <a:solidFill>
                  <a:srgbClr val="202428"/>
                </a:solidFill>
                <a:latin typeface="Cambria"/>
              </a:rPr>
              <a:t> t P</a:t>
            </a:r>
            <a:r>
              <a:rPr lang="en-US" sz="1200" b="0" baseline="-25000">
                <a:solidFill>
                  <a:srgbClr val="202428"/>
                </a:solidFill>
                <a:latin typeface="Cambria"/>
              </a:rPr>
              <a:t>1</a:t>
            </a:r>
            <a:r>
              <a:rPr lang="en-US" sz="1200" b="0">
                <a:solidFill>
                  <a:srgbClr val="202428"/>
                </a:solidFill>
                <a:latin typeface="Cambria"/>
              </a:rPr>
              <a:t> + 3(1−t)t</a:t>
            </a:r>
            <a:r>
              <a:rPr lang="en-US" sz="1200" b="0" baseline="30000">
                <a:solidFill>
                  <a:srgbClr val="202428"/>
                </a:solidFill>
                <a:latin typeface="Cambria"/>
              </a:rPr>
              <a:t>2</a:t>
            </a:r>
            <a:r>
              <a:rPr lang="en-US" sz="1200" b="0">
                <a:solidFill>
                  <a:srgbClr val="202428"/>
                </a:solidFill>
                <a:latin typeface="Cambria"/>
              </a:rPr>
              <a:t> P</a:t>
            </a:r>
            <a:r>
              <a:rPr lang="en-US" sz="1200" b="0" baseline="-25000">
                <a:solidFill>
                  <a:srgbClr val="202428"/>
                </a:solidFill>
                <a:latin typeface="Cambria"/>
              </a:rPr>
              <a:t>2</a:t>
            </a:r>
            <a:r>
              <a:rPr lang="en-US" sz="1200" b="0">
                <a:solidFill>
                  <a:srgbClr val="202428"/>
                </a:solidFill>
                <a:latin typeface="Cambria"/>
              </a:rPr>
              <a:t> + t</a:t>
            </a:r>
            <a:r>
              <a:rPr lang="en-US" sz="1200" b="0" baseline="30000">
                <a:solidFill>
                  <a:srgbClr val="202428"/>
                </a:solidFill>
                <a:latin typeface="Cambria"/>
              </a:rPr>
              <a:t>3</a:t>
            </a:r>
            <a:r>
              <a:rPr lang="en-US" sz="1200" b="0">
                <a:solidFill>
                  <a:srgbClr val="202428"/>
                </a:solidFill>
                <a:latin typeface="Cambria"/>
              </a:rPr>
              <a:t> P</a:t>
            </a:r>
            <a:r>
              <a:rPr lang="en-US" sz="1200" b="0" baseline="-25000">
                <a:solidFill>
                  <a:srgbClr val="202428"/>
                </a:solidFill>
                <a:latin typeface="Cambria"/>
              </a:rPr>
              <a:t>3</a:t>
            </a:r>
          </a:p>
          <a:p>
            <a:pPr algn="l">
              <a:spcAft>
                <a:spcPts val="200"/>
              </a:spcAft>
            </a:pPr>
            <a:r>
              <a:rPr lang="en-US" sz="1200" b="0">
                <a:solidFill>
                  <a:srgbClr val="202428"/>
                </a:solidFill>
                <a:latin typeface="Cambria"/>
              </a:rPr>
              <a:t>Ramp: α = atan(1.08 / 4.60) = 13.21°,  turntable D = 4.20 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200" b="1" i="0">
                <a:solidFill>
                  <a:srgbClr val="202428"/>
                </a:solidFill>
                <a:latin typeface="Segoe UI Semibold"/>
              </a:rPr>
              <a:t>LIGHTING SYSTEM</a:t>
            </a:r>
          </a:p>
        </p:txBody>
      </p:sp>
      <p:pic>
        <p:nvPicPr>
          <p:cNvPr id="7" name="Picture 6" descr="ceiling_lights_off.jpg"/>
          <p:cNvPicPr>
            <a:picLocks noChangeAspect="1"/>
          </p:cNvPicPr>
          <p:nvPr/>
        </p:nvPicPr>
        <p:blipFill>
          <a:blip r:embed="rId3"/>
          <a:srcRect t="42" b="42"/>
          <a:stretch>
            <a:fillRect/>
          </a:stretch>
        </p:blipFill>
        <p:spPr>
          <a:xfrm>
            <a:off x="411480" y="1008849"/>
            <a:ext cx="3931920" cy="2209838"/>
          </a:xfrm>
          <a:prstGeom prst="rect">
            <a:avLst/>
          </a:prstGeom>
          <a:ln w="28575">
            <a:solidFill>
              <a:srgbClr val="25A9C4"/>
            </a:solidFill>
          </a:ln>
        </p:spPr>
      </p:pic>
      <p:pic>
        <p:nvPicPr>
          <p:cNvPr id="10" name="Picture 9" descr="garage_overview.jpg"/>
          <p:cNvPicPr>
            <a:picLocks noChangeAspect="1"/>
          </p:cNvPicPr>
          <p:nvPr/>
        </p:nvPicPr>
        <p:blipFill>
          <a:blip r:embed="rId4"/>
          <a:srcRect t="42" b="42"/>
          <a:stretch>
            <a:fillRect/>
          </a:stretch>
        </p:blipFill>
        <p:spPr>
          <a:xfrm>
            <a:off x="4480560" y="1008849"/>
            <a:ext cx="3931920" cy="2209838"/>
          </a:xfrm>
          <a:prstGeom prst="rect">
            <a:avLst/>
          </a:prstGeom>
          <a:ln w="28575">
            <a:solidFill>
              <a:srgbClr val="D9A525"/>
            </a:solidFill>
          </a:ln>
        </p:spPr>
      </p:pic>
      <p:pic>
        <p:nvPicPr>
          <p:cNvPr id="13" name="Picture 12" descr="spotlight_night.jpg"/>
          <p:cNvPicPr>
            <a:picLocks noChangeAspect="1"/>
          </p:cNvPicPr>
          <p:nvPr/>
        </p:nvPicPr>
        <p:blipFill>
          <a:blip r:embed="rId5"/>
          <a:srcRect t="42" b="42"/>
          <a:stretch>
            <a:fillRect/>
          </a:stretch>
        </p:blipFill>
        <p:spPr>
          <a:xfrm>
            <a:off x="411480" y="3614889"/>
            <a:ext cx="3931920" cy="2209838"/>
          </a:xfrm>
          <a:prstGeom prst="rect">
            <a:avLst/>
          </a:prstGeom>
          <a:ln w="28575">
            <a:solidFill>
              <a:srgbClr val="25A9C4"/>
            </a:solidFill>
          </a:ln>
        </p:spPr>
      </p:pic>
      <p:pic>
        <p:nvPicPr>
          <p:cNvPr id="16" name="Picture 15" descr="headlight_phong.jpg"/>
          <p:cNvPicPr>
            <a:picLocks noChangeAspect="1"/>
          </p:cNvPicPr>
          <p:nvPr/>
        </p:nvPicPr>
        <p:blipFill>
          <a:blip r:embed="rId6"/>
          <a:srcRect t="42" b="42"/>
          <a:stretch>
            <a:fillRect/>
          </a:stretch>
        </p:blipFill>
        <p:spPr>
          <a:xfrm>
            <a:off x="4480560" y="3614889"/>
            <a:ext cx="3931920" cy="2209838"/>
          </a:xfrm>
          <a:prstGeom prst="rect">
            <a:avLst/>
          </a:prstGeom>
          <a:ln w="28575">
            <a:solidFill>
              <a:srgbClr val="D9A525"/>
            </a:solidFill>
          </a:ln>
        </p:spPr>
      </p:pic>
      <p:sp>
        <p:nvSpPr>
          <p:cNvPr id="70" name="Figure Caption 34"/>
          <p:cNvSpPr txBox="1"/>
          <p:nvPr/>
        </p:nvSpPr>
        <p:spPr>
          <a:xfrm>
            <a:off x="411480" y="3264408"/>
            <a:ext cx="393192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34  </a:t>
            </a:r>
            <a:r>
              <a:rPr lang="en-US" sz="1200" b="0">
                <a:solidFill>
                  <a:srgbClr val="202428"/>
                </a:solidFill>
                <a:latin typeface="Segoe UI"/>
              </a:rPr>
              <a:t>Directional light</a:t>
            </a:r>
          </a:p>
        </p:txBody>
      </p:sp>
      <p:sp>
        <p:nvSpPr>
          <p:cNvPr id="71" name="Figure Caption 35"/>
          <p:cNvSpPr txBox="1"/>
          <p:nvPr/>
        </p:nvSpPr>
        <p:spPr>
          <a:xfrm>
            <a:off x="4480560" y="3264408"/>
            <a:ext cx="393192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35  </a:t>
            </a:r>
            <a:r>
              <a:rPr lang="en-US" sz="1200" b="0">
                <a:solidFill>
                  <a:srgbClr val="202428"/>
                </a:solidFill>
                <a:latin typeface="Segoe UI"/>
              </a:rPr>
              <a:t>Ceiling point lights</a:t>
            </a:r>
          </a:p>
        </p:txBody>
      </p:sp>
      <p:sp>
        <p:nvSpPr>
          <p:cNvPr id="72" name="Figure Caption 36"/>
          <p:cNvSpPr txBox="1"/>
          <p:nvPr/>
        </p:nvSpPr>
        <p:spPr>
          <a:xfrm>
            <a:off x="411480" y="5870448"/>
            <a:ext cx="393192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36  </a:t>
            </a:r>
            <a:r>
              <a:rPr lang="en-US" sz="1200" b="0">
                <a:solidFill>
                  <a:srgbClr val="202428"/>
                </a:solidFill>
                <a:latin typeface="Segoe UI"/>
              </a:rPr>
              <a:t>Moving spotlight (scanner tip)</a:t>
            </a:r>
          </a:p>
        </p:txBody>
      </p:sp>
      <p:sp>
        <p:nvSpPr>
          <p:cNvPr id="73" name="Figure Caption 37"/>
          <p:cNvSpPr txBox="1"/>
          <p:nvPr/>
        </p:nvSpPr>
        <p:spPr>
          <a:xfrm>
            <a:off x="4480560" y="5870448"/>
            <a:ext cx="3931920"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37  </a:t>
            </a:r>
            <a:r>
              <a:rPr lang="en-US" sz="1200" b="0">
                <a:solidFill>
                  <a:srgbClr val="202428"/>
                </a:solidFill>
                <a:latin typeface="Segoe UI"/>
              </a:rPr>
              <a:t>Headlight point lights</a:t>
            </a:r>
          </a:p>
        </p:txBody>
      </p:sp>
      <p:sp>
        <p:nvSpPr>
          <p:cNvPr id="74" name="Equation Panel 74"/>
          <p:cNvSpPr/>
          <p:nvPr/>
        </p:nvSpPr>
        <p:spPr>
          <a:xfrm>
            <a:off x="8686800" y="1005840"/>
            <a:ext cx="3090672" cy="512064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PHONG REFLECTION</a:t>
            </a:r>
          </a:p>
          <a:p>
            <a:pPr algn="l">
              <a:spcAft>
                <a:spcPts val="200"/>
              </a:spcAft>
            </a:pPr>
            <a:r>
              <a:rPr lang="en-US" sz="1300" b="0">
                <a:solidFill>
                  <a:srgbClr val="202428"/>
                </a:solidFill>
                <a:latin typeface="Cambria"/>
              </a:rPr>
              <a:t>I = I</a:t>
            </a:r>
            <a:r>
              <a:rPr lang="en-US" sz="1300" b="0" baseline="-25000">
                <a:solidFill>
                  <a:srgbClr val="202428"/>
                </a:solidFill>
                <a:latin typeface="Cambria"/>
              </a:rPr>
              <a:t>a</a:t>
            </a:r>
            <a:r>
              <a:rPr lang="en-US" sz="1300" b="0">
                <a:solidFill>
                  <a:srgbClr val="202428"/>
                </a:solidFill>
                <a:latin typeface="Cambria"/>
              </a:rPr>
              <a:t> + I</a:t>
            </a:r>
            <a:r>
              <a:rPr lang="en-US" sz="1300" b="0" baseline="-25000">
                <a:solidFill>
                  <a:srgbClr val="202428"/>
                </a:solidFill>
                <a:latin typeface="Cambria"/>
              </a:rPr>
              <a:t>d</a:t>
            </a:r>
            <a:r>
              <a:rPr lang="en-US" sz="1300" b="0">
                <a:solidFill>
                  <a:srgbClr val="202428"/>
                </a:solidFill>
                <a:latin typeface="Cambria"/>
              </a:rPr>
              <a:t> + I</a:t>
            </a:r>
            <a:r>
              <a:rPr lang="en-US" sz="1300" b="0" baseline="-25000">
                <a:solidFill>
                  <a:srgbClr val="202428"/>
                </a:solidFill>
                <a:latin typeface="Cambria"/>
              </a:rPr>
              <a:t>s</a:t>
            </a:r>
          </a:p>
          <a:p>
            <a:pPr algn="l"/>
            <a:endParaRPr lang="en-US" sz="650"/>
          </a:p>
          <a:p>
            <a:pPr algn="l">
              <a:spcAft>
                <a:spcPts val="200"/>
              </a:spcAft>
            </a:pPr>
            <a:r>
              <a:rPr lang="en-US" sz="1300" b="0">
                <a:solidFill>
                  <a:srgbClr val="202428"/>
                </a:solidFill>
                <a:latin typeface="Cambria"/>
              </a:rPr>
              <a:t>Ambient: I</a:t>
            </a:r>
            <a:r>
              <a:rPr lang="en-US" sz="1300" b="0" baseline="-25000">
                <a:solidFill>
                  <a:srgbClr val="202428"/>
                </a:solidFill>
                <a:latin typeface="Cambria"/>
              </a:rPr>
              <a:t>a</a:t>
            </a:r>
            <a:r>
              <a:rPr lang="en-US" sz="1300" b="0">
                <a:solidFill>
                  <a:srgbClr val="202428"/>
                </a:solidFill>
                <a:latin typeface="Cambria"/>
              </a:rPr>
              <a:t> = k</a:t>
            </a:r>
            <a:r>
              <a:rPr lang="en-US" sz="1300" b="0" baseline="-25000">
                <a:solidFill>
                  <a:srgbClr val="202428"/>
                </a:solidFill>
                <a:latin typeface="Cambria"/>
              </a:rPr>
              <a:t>a</a:t>
            </a:r>
            <a:r>
              <a:rPr lang="en-US" sz="1300" b="0">
                <a:solidFill>
                  <a:srgbClr val="202428"/>
                </a:solidFill>
                <a:latin typeface="Cambria"/>
              </a:rPr>
              <a:t> L</a:t>
            </a:r>
            <a:r>
              <a:rPr lang="en-US" sz="1300" b="0" baseline="-25000">
                <a:solidFill>
                  <a:srgbClr val="202428"/>
                </a:solidFill>
                <a:latin typeface="Cambria"/>
              </a:rPr>
              <a:t>a</a:t>
            </a:r>
          </a:p>
          <a:p>
            <a:pPr algn="l">
              <a:spcAft>
                <a:spcPts val="200"/>
              </a:spcAft>
            </a:pPr>
            <a:r>
              <a:rPr lang="en-US" sz="1300" b="0">
                <a:solidFill>
                  <a:srgbClr val="202428"/>
                </a:solidFill>
                <a:latin typeface="Cambria"/>
              </a:rPr>
              <a:t>Diffuse: I</a:t>
            </a:r>
            <a:r>
              <a:rPr lang="en-US" sz="1300" b="0" baseline="-25000">
                <a:solidFill>
                  <a:srgbClr val="202428"/>
                </a:solidFill>
                <a:latin typeface="Cambria"/>
              </a:rPr>
              <a:t>d</a:t>
            </a:r>
            <a:r>
              <a:rPr lang="en-US" sz="1300" b="0">
                <a:solidFill>
                  <a:srgbClr val="202428"/>
                </a:solidFill>
                <a:latin typeface="Cambria"/>
              </a:rPr>
              <a:t> = k</a:t>
            </a:r>
            <a:r>
              <a:rPr lang="en-US" sz="1300" b="0" baseline="-25000">
                <a:solidFill>
                  <a:srgbClr val="202428"/>
                </a:solidFill>
                <a:latin typeface="Cambria"/>
              </a:rPr>
              <a:t>d</a:t>
            </a:r>
            <a:r>
              <a:rPr lang="en-US" sz="1300" b="0">
                <a:solidFill>
                  <a:srgbClr val="202428"/>
                </a:solidFill>
                <a:latin typeface="Cambria"/>
              </a:rPr>
              <a:t> L</a:t>
            </a:r>
            <a:r>
              <a:rPr lang="en-US" sz="1300" b="0" baseline="-25000">
                <a:solidFill>
                  <a:srgbClr val="202428"/>
                </a:solidFill>
                <a:latin typeface="Cambria"/>
              </a:rPr>
              <a:t>d</a:t>
            </a:r>
            <a:r>
              <a:rPr lang="en-US" sz="1300" b="0">
                <a:solidFill>
                  <a:srgbClr val="202428"/>
                </a:solidFill>
                <a:latin typeface="Cambria"/>
              </a:rPr>
              <a:t> max(N·L, 0)</a:t>
            </a:r>
          </a:p>
          <a:p>
            <a:pPr algn="l">
              <a:spcAft>
                <a:spcPts val="200"/>
              </a:spcAft>
            </a:pPr>
            <a:r>
              <a:rPr lang="en-US" sz="1300" b="0">
                <a:solidFill>
                  <a:srgbClr val="202428"/>
                </a:solidFill>
                <a:latin typeface="Cambria"/>
              </a:rPr>
              <a:t>Specular: I</a:t>
            </a:r>
            <a:r>
              <a:rPr lang="en-US" sz="1300" b="0" baseline="-25000">
                <a:solidFill>
                  <a:srgbClr val="202428"/>
                </a:solidFill>
                <a:latin typeface="Cambria"/>
              </a:rPr>
              <a:t>s</a:t>
            </a:r>
            <a:r>
              <a:rPr lang="en-US" sz="1300" b="0">
                <a:solidFill>
                  <a:srgbClr val="202428"/>
                </a:solidFill>
                <a:latin typeface="Cambria"/>
              </a:rPr>
              <a:t> = k</a:t>
            </a:r>
            <a:r>
              <a:rPr lang="en-US" sz="1300" b="0" baseline="-25000">
                <a:solidFill>
                  <a:srgbClr val="202428"/>
                </a:solidFill>
                <a:latin typeface="Cambria"/>
              </a:rPr>
              <a:t>s</a:t>
            </a:r>
            <a:r>
              <a:rPr lang="en-US" sz="1300" b="0">
                <a:solidFill>
                  <a:srgbClr val="202428"/>
                </a:solidFill>
                <a:latin typeface="Cambria"/>
              </a:rPr>
              <a:t> L</a:t>
            </a:r>
            <a:r>
              <a:rPr lang="en-US" sz="1300" b="0" baseline="-25000">
                <a:solidFill>
                  <a:srgbClr val="202428"/>
                </a:solidFill>
                <a:latin typeface="Cambria"/>
              </a:rPr>
              <a:t>s</a:t>
            </a:r>
            <a:r>
              <a:rPr lang="en-US" sz="1300" b="0">
                <a:solidFill>
                  <a:srgbClr val="202428"/>
                </a:solidFill>
                <a:latin typeface="Cambria"/>
              </a:rPr>
              <a:t> max(R·V, 0)</a:t>
            </a:r>
            <a:r>
              <a:rPr lang="en-US" sz="1300" b="0" baseline="30000">
                <a:solidFill>
                  <a:srgbClr val="202428"/>
                </a:solidFill>
                <a:latin typeface="Cambria"/>
              </a:rPr>
              <a:t>n</a:t>
            </a:r>
          </a:p>
          <a:p>
            <a:pPr algn="l">
              <a:spcAft>
                <a:spcPts val="200"/>
              </a:spcAft>
            </a:pPr>
            <a:r>
              <a:rPr lang="en-US" sz="1300" b="0">
                <a:solidFill>
                  <a:srgbClr val="202428"/>
                </a:solidFill>
                <a:latin typeface="Cambria"/>
              </a:rPr>
              <a:t>n = mix(180, 10, roughness)</a:t>
            </a:r>
          </a:p>
          <a:p>
            <a:pPr algn="l"/>
            <a:endParaRPr lang="en-US" sz="650"/>
          </a:p>
          <a:p>
            <a:pPr algn="l">
              <a:spcAft>
                <a:spcPts val="200"/>
              </a:spcAft>
            </a:pPr>
            <a:r>
              <a:rPr lang="en-US" sz="1300" b="0">
                <a:solidFill>
                  <a:srgbClr val="202428"/>
                </a:solidFill>
                <a:latin typeface="Cambria"/>
              </a:rPr>
              <a:t>Attenuation:</a:t>
            </a:r>
          </a:p>
          <a:p>
            <a:pPr algn="l">
              <a:spcAft>
                <a:spcPts val="200"/>
              </a:spcAft>
            </a:pPr>
            <a:r>
              <a:rPr lang="en-US" sz="1300" b="0">
                <a:solidFill>
                  <a:srgbClr val="202428"/>
                </a:solidFill>
                <a:latin typeface="Cambria"/>
              </a:rPr>
              <a:t>A(d) = 1 / (1 + 0.075d + 0.018d</a:t>
            </a:r>
            <a:r>
              <a:rPr lang="en-US" sz="1300" b="0" baseline="30000">
                <a:solidFill>
                  <a:srgbClr val="202428"/>
                </a:solidFill>
                <a:latin typeface="Cambria"/>
              </a:rPr>
              <a:t>2</a:t>
            </a:r>
            <a:r>
              <a:rPr lang="en-US" sz="1300" b="0">
                <a:solidFill>
                  <a:srgbClr val="202428"/>
                </a:solidFill>
                <a:latin typeface="Cambria"/>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200" b="1" i="0">
                <a:solidFill>
                  <a:srgbClr val="202428"/>
                </a:solidFill>
                <a:latin typeface="Segoe UI Semibold"/>
              </a:rPr>
              <a:t>GOURAUD VS PHONG</a:t>
            </a:r>
          </a:p>
        </p:txBody>
      </p:sp>
      <p:pic>
        <p:nvPicPr>
          <p:cNvPr id="11" name="Picture 10" descr="spot_gouraud.jpg"/>
          <p:cNvPicPr>
            <a:picLocks noChangeAspect="1"/>
          </p:cNvPicPr>
          <p:nvPr/>
        </p:nvPicPr>
        <p:blipFill>
          <a:blip r:embed="rId3"/>
          <a:srcRect t="18" b="18"/>
          <a:stretch>
            <a:fillRect/>
          </a:stretch>
        </p:blipFill>
        <p:spPr>
          <a:xfrm>
            <a:off x="411480" y="1051560"/>
            <a:ext cx="5577840" cy="3136391"/>
          </a:xfrm>
          <a:prstGeom prst="rect">
            <a:avLst/>
          </a:prstGeom>
          <a:ln w="38100">
            <a:solidFill>
              <a:srgbClr val="202428"/>
            </a:solidFill>
          </a:ln>
        </p:spPr>
      </p:pic>
      <p:pic>
        <p:nvPicPr>
          <p:cNvPr id="14" name="Picture 13" descr="spot_phong.jpg"/>
          <p:cNvPicPr>
            <a:picLocks noChangeAspect="1"/>
          </p:cNvPicPr>
          <p:nvPr/>
        </p:nvPicPr>
        <p:blipFill>
          <a:blip r:embed="rId4"/>
          <a:srcRect t="18" b="18"/>
          <a:stretch>
            <a:fillRect/>
          </a:stretch>
        </p:blipFill>
        <p:spPr>
          <a:xfrm>
            <a:off x="6199632" y="1051560"/>
            <a:ext cx="5577840" cy="3136391"/>
          </a:xfrm>
          <a:prstGeom prst="rect">
            <a:avLst/>
          </a:prstGeom>
          <a:ln w="38100">
            <a:solidFill>
              <a:srgbClr val="D9A525"/>
            </a:solidFill>
          </a:ln>
        </p:spPr>
      </p:pic>
      <p:sp>
        <p:nvSpPr>
          <p:cNvPr id="53" name="Figure Caption 38"/>
          <p:cNvSpPr txBox="1"/>
          <p:nvPr/>
        </p:nvSpPr>
        <p:spPr>
          <a:xfrm>
            <a:off x="411480" y="4233672"/>
            <a:ext cx="557784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38  </a:t>
            </a:r>
            <a:r>
              <a:rPr lang="en-US" sz="1300" b="0">
                <a:solidFill>
                  <a:srgbClr val="202428"/>
                </a:solidFill>
                <a:latin typeface="Segoe UI"/>
              </a:rPr>
              <a:t>Gouraud shading: lighting per vertex, spotlight lost</a:t>
            </a:r>
          </a:p>
        </p:txBody>
      </p:sp>
      <p:sp>
        <p:nvSpPr>
          <p:cNvPr id="54" name="Figure Caption 39"/>
          <p:cNvSpPr txBox="1"/>
          <p:nvPr/>
        </p:nvSpPr>
        <p:spPr>
          <a:xfrm>
            <a:off x="6199632" y="4233672"/>
            <a:ext cx="557784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39  </a:t>
            </a:r>
            <a:r>
              <a:rPr lang="en-US" sz="1300" b="0">
                <a:solidFill>
                  <a:srgbClr val="202428"/>
                </a:solidFill>
                <a:latin typeface="Segoe UI"/>
              </a:rPr>
              <a:t>Phong shading: lighting per fragment, crisp spotlight</a:t>
            </a:r>
          </a:p>
        </p:txBody>
      </p:sp>
      <p:sp>
        <p:nvSpPr>
          <p:cNvPr id="55" name="Equation Panel 55"/>
          <p:cNvSpPr/>
          <p:nvPr/>
        </p:nvSpPr>
        <p:spPr>
          <a:xfrm>
            <a:off x="411480" y="4754880"/>
            <a:ext cx="5577840" cy="100584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INTERPOLATE COLOUR</a:t>
            </a:r>
          </a:p>
          <a:p>
            <a:pPr algn="l">
              <a:spcAft>
                <a:spcPts val="200"/>
              </a:spcAft>
            </a:pPr>
            <a:r>
              <a:rPr lang="en-US" sz="1400" b="0">
                <a:solidFill>
                  <a:srgbClr val="202428"/>
                </a:solidFill>
                <a:latin typeface="Cambria"/>
              </a:rPr>
              <a:t>C</a:t>
            </a:r>
            <a:r>
              <a:rPr lang="en-US" sz="1400" b="0" baseline="-25000">
                <a:solidFill>
                  <a:srgbClr val="202428"/>
                </a:solidFill>
                <a:latin typeface="Cambria"/>
              </a:rPr>
              <a:t>f</a:t>
            </a:r>
            <a:r>
              <a:rPr lang="en-US" sz="1400" b="0">
                <a:solidFill>
                  <a:srgbClr val="202428"/>
                </a:solidFill>
                <a:latin typeface="Cambria"/>
              </a:rPr>
              <a:t> = α C</a:t>
            </a:r>
            <a:r>
              <a:rPr lang="en-US" sz="1400" b="0" baseline="-25000">
                <a:solidFill>
                  <a:srgbClr val="202428"/>
                </a:solidFill>
                <a:latin typeface="Cambria"/>
              </a:rPr>
              <a:t>1</a:t>
            </a:r>
            <a:r>
              <a:rPr lang="en-US" sz="1400" b="0">
                <a:solidFill>
                  <a:srgbClr val="202428"/>
                </a:solidFill>
                <a:latin typeface="Cambria"/>
              </a:rPr>
              <a:t> + β C</a:t>
            </a:r>
            <a:r>
              <a:rPr lang="en-US" sz="1400" b="0" baseline="-25000">
                <a:solidFill>
                  <a:srgbClr val="202428"/>
                </a:solidFill>
                <a:latin typeface="Cambria"/>
              </a:rPr>
              <a:t>2</a:t>
            </a:r>
            <a:r>
              <a:rPr lang="en-US" sz="1400" b="0">
                <a:solidFill>
                  <a:srgbClr val="202428"/>
                </a:solidFill>
                <a:latin typeface="Cambria"/>
              </a:rPr>
              <a:t> + γ C</a:t>
            </a:r>
            <a:r>
              <a:rPr lang="en-US" sz="1400" b="0" baseline="-25000">
                <a:solidFill>
                  <a:srgbClr val="202428"/>
                </a:solidFill>
                <a:latin typeface="Cambria"/>
              </a:rPr>
              <a:t>3</a:t>
            </a:r>
          </a:p>
        </p:txBody>
      </p:sp>
      <p:sp>
        <p:nvSpPr>
          <p:cNvPr id="56" name="Equation Panel 56"/>
          <p:cNvSpPr/>
          <p:nvPr/>
        </p:nvSpPr>
        <p:spPr>
          <a:xfrm>
            <a:off x="6199632" y="4754880"/>
            <a:ext cx="5577840" cy="100584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INTERPOLATE NORMAL, THEN LIGHT</a:t>
            </a:r>
          </a:p>
          <a:p>
            <a:pPr algn="l">
              <a:spcAft>
                <a:spcPts val="200"/>
              </a:spcAft>
            </a:pPr>
            <a:r>
              <a:rPr lang="en-US" sz="1400" b="0">
                <a:solidFill>
                  <a:srgbClr val="202428"/>
                </a:solidFill>
                <a:latin typeface="Cambria"/>
              </a:rPr>
              <a:t>I(n</a:t>
            </a:r>
            <a:r>
              <a:rPr lang="en-US" sz="1400" b="0" baseline="-25000">
                <a:solidFill>
                  <a:srgbClr val="202428"/>
                </a:solidFill>
                <a:latin typeface="Cambria"/>
              </a:rPr>
              <a:t>f</a:t>
            </a:r>
            <a:r>
              <a:rPr lang="en-US" sz="1400" b="0">
                <a:solidFill>
                  <a:srgbClr val="202428"/>
                </a:solidFill>
                <a:latin typeface="Cambria"/>
              </a:rPr>
              <a:t>) = I</a:t>
            </a:r>
            <a:r>
              <a:rPr lang="en-US" sz="1400" b="0" baseline="-25000">
                <a:solidFill>
                  <a:srgbClr val="202428"/>
                </a:solidFill>
                <a:latin typeface="Cambria"/>
              </a:rPr>
              <a:t>a</a:t>
            </a:r>
            <a:r>
              <a:rPr lang="en-US" sz="1400" b="0">
                <a:solidFill>
                  <a:srgbClr val="202428"/>
                </a:solidFill>
                <a:latin typeface="Cambria"/>
              </a:rPr>
              <a:t> + I</a:t>
            </a:r>
            <a:r>
              <a:rPr lang="en-US" sz="1400" b="0" baseline="-25000">
                <a:solidFill>
                  <a:srgbClr val="202428"/>
                </a:solidFill>
                <a:latin typeface="Cambria"/>
              </a:rPr>
              <a:t>d</a:t>
            </a:r>
            <a:r>
              <a:rPr lang="en-US" sz="1400" b="0">
                <a:solidFill>
                  <a:srgbClr val="202428"/>
                </a:solidFill>
                <a:latin typeface="Cambria"/>
              </a:rPr>
              <a:t> + I</a:t>
            </a:r>
            <a:r>
              <a:rPr lang="en-US" sz="1400" b="0" baseline="-25000">
                <a:solidFill>
                  <a:srgbClr val="202428"/>
                </a:solidFill>
                <a:latin typeface="Cambria"/>
              </a:rPr>
              <a:t>s</a:t>
            </a:r>
            <a:r>
              <a:rPr lang="en-US" sz="1400" b="0">
                <a:solidFill>
                  <a:srgbClr val="202428"/>
                </a:solidFill>
                <a:latin typeface="Cambria"/>
              </a:rPr>
              <a:t>  at every pixel</a:t>
            </a:r>
          </a:p>
        </p:txBody>
      </p:sp>
      <p:sp>
        <p:nvSpPr>
          <p:cNvPr id="57" name="Equation Panel 57"/>
          <p:cNvSpPr/>
          <p:nvPr/>
        </p:nvSpPr>
        <p:spPr>
          <a:xfrm>
            <a:off x="411480" y="5897880"/>
            <a:ext cx="11365992" cy="73152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BEYOND THE REQUIREMENTS</a:t>
            </a:r>
          </a:p>
          <a:p>
            <a:pPr algn="l">
              <a:spcAft>
                <a:spcPts val="200"/>
              </a:spcAft>
            </a:pPr>
            <a:r>
              <a:rPr lang="en-US" sz="1300" b="0">
                <a:solidFill>
                  <a:srgbClr val="202428"/>
                </a:solidFill>
                <a:latin typeface="Cambria"/>
              </a:rPr>
              <a:t>PBR  |  GGX  |  PCF shadows  |  Triplanar textures  |  HDR  |  MSAA  |  Bloom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9144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54864" cy="9144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82880"/>
            <a:ext cx="7680960" cy="640080"/>
          </a:xfrm>
          <a:prstGeom prst="rect">
            <a:avLst/>
          </a:prstGeom>
          <a:noFill/>
        </p:spPr>
        <p:txBody>
          <a:bodyPr wrap="square" lIns="36576" tIns="18288" rIns="36576" bIns="18288" anchor="ctr">
            <a:spAutoFit/>
          </a:bodyPr>
          <a:lstStyle/>
          <a:p>
            <a:pPr algn="l"/>
            <a:r>
              <a:rPr sz="3200" b="1" i="0">
                <a:solidFill>
                  <a:srgbClr val="202428"/>
                </a:solidFill>
                <a:latin typeface="Segoe UI Semibold"/>
              </a:rPr>
              <a:t>RAY-TRACED INSPECTION MONITOR</a:t>
            </a:r>
          </a:p>
        </p:txBody>
      </p:sp>
      <p:pic>
        <p:nvPicPr>
          <p:cNvPr id="6" name="Picture 5" descr="on.jpg"/>
          <p:cNvPicPr>
            <a:picLocks noChangeAspect="1"/>
          </p:cNvPicPr>
          <p:nvPr/>
        </p:nvPicPr>
        <p:blipFill>
          <a:blip r:embed="rId3"/>
          <a:srcRect t="33" b="33"/>
          <a:stretch>
            <a:fillRect/>
          </a:stretch>
        </p:blipFill>
        <p:spPr>
          <a:xfrm>
            <a:off x="411480" y="1008688"/>
            <a:ext cx="6949440" cy="4340551"/>
          </a:xfrm>
          <a:prstGeom prst="rect">
            <a:avLst/>
          </a:prstGeom>
          <a:ln w="38100">
            <a:solidFill>
              <a:srgbClr val="25A9C4"/>
            </a:solidFill>
          </a:ln>
        </p:spPr>
      </p:pic>
      <p:pic>
        <p:nvPicPr>
          <p:cNvPr id="8" name="Picture 7" descr="room.jpg"/>
          <p:cNvPicPr>
            <a:picLocks noChangeAspect="1"/>
          </p:cNvPicPr>
          <p:nvPr/>
        </p:nvPicPr>
        <p:blipFill>
          <a:blip r:embed="rId4"/>
          <a:srcRect l="5592" r="5592"/>
          <a:stretch>
            <a:fillRect/>
          </a:stretch>
        </p:blipFill>
        <p:spPr>
          <a:xfrm>
            <a:off x="8092440" y="1005840"/>
            <a:ext cx="3652787" cy="2313432"/>
          </a:xfrm>
          <a:prstGeom prst="rect">
            <a:avLst/>
          </a:prstGeom>
          <a:ln w="19050">
            <a:solidFill>
              <a:srgbClr val="A6ADB2"/>
            </a:solidFill>
          </a:ln>
        </p:spPr>
      </p:pic>
      <p:pic>
        <p:nvPicPr>
          <p:cNvPr id="10" name="Picture 9" descr="off.jpg"/>
          <p:cNvPicPr>
            <a:picLocks noChangeAspect="1"/>
          </p:cNvPicPr>
          <p:nvPr/>
        </p:nvPicPr>
        <p:blipFill>
          <a:blip r:embed="rId5"/>
          <a:srcRect l="658" r="658"/>
          <a:stretch>
            <a:fillRect/>
          </a:stretch>
        </p:blipFill>
        <p:spPr>
          <a:xfrm>
            <a:off x="8092440" y="3794760"/>
            <a:ext cx="3652787" cy="2313432"/>
          </a:xfrm>
          <a:prstGeom prst="rect">
            <a:avLst/>
          </a:prstGeom>
          <a:ln w="19050">
            <a:solidFill>
              <a:srgbClr val="A6ADB2"/>
            </a:solidFill>
          </a:ln>
        </p:spPr>
      </p:pic>
      <p:sp>
        <p:nvSpPr>
          <p:cNvPr id="65" name="Figure Caption 40"/>
          <p:cNvSpPr txBox="1"/>
          <p:nvPr/>
        </p:nvSpPr>
        <p:spPr>
          <a:xfrm>
            <a:off x="411480" y="5394959"/>
            <a:ext cx="6949440" cy="280669"/>
          </a:xfrm>
          <a:prstGeom prst="rect">
            <a:avLst/>
          </a:prstGeom>
          <a:noFill/>
        </p:spPr>
        <p:txBody>
          <a:bodyPr wrap="square" lIns="0" tIns="18288" rIns="0" bIns="18288" anchor="t">
            <a:noAutofit/>
          </a:bodyPr>
          <a:lstStyle/>
          <a:p>
            <a:pPr algn="l"/>
            <a:r>
              <a:rPr lang="en-US" sz="1300" b="1">
                <a:solidFill>
                  <a:srgbClr val="1B8BA3"/>
                </a:solidFill>
                <a:latin typeface="Segoe UI Semibold"/>
              </a:rPr>
              <a:t>Fig. 40  </a:t>
            </a:r>
            <a:r>
              <a:rPr lang="en-US" sz="1300" b="0">
                <a:solidFill>
                  <a:srgbClr val="202428"/>
                </a:solidFill>
                <a:latin typeface="Segoe UI"/>
              </a:rPr>
              <a:t>Ray-traced inspection monitor: 1 ray + 1 shadow ray per pixel</a:t>
            </a:r>
          </a:p>
        </p:txBody>
      </p:sp>
      <p:sp>
        <p:nvSpPr>
          <p:cNvPr id="66" name="Figure Caption 41"/>
          <p:cNvSpPr txBox="1"/>
          <p:nvPr/>
        </p:nvSpPr>
        <p:spPr>
          <a:xfrm>
            <a:off x="8092440" y="3364991"/>
            <a:ext cx="3652787"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41  </a:t>
            </a:r>
            <a:r>
              <a:rPr lang="en-US" sz="1200" b="0">
                <a:solidFill>
                  <a:srgbClr val="202428"/>
                </a:solidFill>
                <a:latin typeface="Segoe UI"/>
              </a:rPr>
              <a:t>Monitor beside the lift</a:t>
            </a:r>
          </a:p>
        </p:txBody>
      </p:sp>
      <p:sp>
        <p:nvSpPr>
          <p:cNvPr id="67" name="Figure Caption 42"/>
          <p:cNvSpPr txBox="1"/>
          <p:nvPr/>
        </p:nvSpPr>
        <p:spPr>
          <a:xfrm>
            <a:off x="8092440" y="6153912"/>
            <a:ext cx="3652787" cy="259080"/>
          </a:xfrm>
          <a:prstGeom prst="rect">
            <a:avLst/>
          </a:prstGeom>
          <a:noFill/>
        </p:spPr>
        <p:txBody>
          <a:bodyPr wrap="square" lIns="0" tIns="18288" rIns="0" bIns="18288" anchor="t">
            <a:noAutofit/>
          </a:bodyPr>
          <a:lstStyle/>
          <a:p>
            <a:pPr algn="l"/>
            <a:r>
              <a:rPr lang="en-US" sz="1200" b="1">
                <a:solidFill>
                  <a:srgbClr val="1B8BA3"/>
                </a:solidFill>
                <a:latin typeface="Segoe UI Semibold"/>
              </a:rPr>
              <a:t>Fig. 42  </a:t>
            </a:r>
            <a:r>
              <a:rPr lang="en-US" sz="1200" b="0">
                <a:solidFill>
                  <a:srgbClr val="202428"/>
                </a:solidFill>
                <a:latin typeface="Segoe UI"/>
              </a:rPr>
              <a:t>Same view, shadow rays off</a:t>
            </a:r>
          </a:p>
        </p:txBody>
      </p:sp>
      <p:sp>
        <p:nvSpPr>
          <p:cNvPr id="68" name="Equation Panel 68"/>
          <p:cNvSpPr/>
          <p:nvPr/>
        </p:nvSpPr>
        <p:spPr>
          <a:xfrm>
            <a:off x="411480" y="5760720"/>
            <a:ext cx="6949440" cy="868680"/>
          </a:xfrm>
          <a:prstGeom prst="roundRect">
            <a:avLst>
              <a:gd name="adj" fmla="val 6000"/>
            </a:avLst>
          </a:prstGeom>
          <a:solidFill>
            <a:srgbClr val="FFFFFF"/>
          </a:solidFill>
          <a:ln w="9525">
            <a:solidFill>
              <a:srgbClr val="D9D5C8"/>
            </a:solidFill>
          </a:ln>
        </p:spPr>
        <p:txBody>
          <a:bodyPr wrap="square" lIns="109728" tIns="73152" rIns="91440" bIns="73152" anchor="t">
            <a:normAutofit/>
          </a:bodyPr>
          <a:lstStyle/>
          <a:p>
            <a:pPr algn="l">
              <a:spcAft>
                <a:spcPts val="300"/>
              </a:spcAft>
            </a:pPr>
            <a:r>
              <a:rPr lang="en-US" sz="1100" b="1">
                <a:solidFill>
                  <a:srgbClr val="1B8BA3"/>
                </a:solidFill>
                <a:latin typeface="Segoe UI Semibold"/>
              </a:rPr>
              <a:t>RAY &amp; SHADOW RAY</a:t>
            </a:r>
          </a:p>
          <a:p>
            <a:pPr algn="l">
              <a:spcAft>
                <a:spcPts val="200"/>
              </a:spcAft>
            </a:pPr>
            <a:r>
              <a:rPr lang="en-US" sz="1150" b="0">
                <a:solidFill>
                  <a:srgbClr val="202428"/>
                </a:solidFill>
                <a:latin typeface="Cambria"/>
              </a:rPr>
              <a:t>d = normalize(f + u·a·tan(φ/2)·r + v·tan(φ/2)·u),  nearest t &gt; 0 wins</a:t>
            </a:r>
          </a:p>
          <a:p>
            <a:pPr algn="l">
              <a:spcAft>
                <a:spcPts val="200"/>
              </a:spcAft>
            </a:pPr>
            <a:r>
              <a:rPr lang="en-US" sz="1150" b="0">
                <a:solidFill>
                  <a:srgbClr val="202428"/>
                </a:solidFill>
                <a:latin typeface="Cambria"/>
              </a:rPr>
              <a:t>t</a:t>
            </a:r>
            <a:r>
              <a:rPr lang="en-US" sz="1150" b="0" baseline="-25000">
                <a:solidFill>
                  <a:srgbClr val="202428"/>
                </a:solidFill>
                <a:latin typeface="Cambria"/>
              </a:rPr>
              <a:t>max</a:t>
            </a:r>
            <a:r>
              <a:rPr lang="en-US" sz="1150" b="0">
                <a:solidFill>
                  <a:srgbClr val="202428"/>
                </a:solidFill>
                <a:latin typeface="Cambria"/>
              </a:rPr>
              <a:t> = |L − P| − 0.03,  origin P + 0.012 n;  793 items, no RTX (OpenGL 3.3)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SmartGarage_Demo_1080p60_2.5x_for_PPTX.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pic>
        <p:nvPicPr>
          <p:cNvPr id="2" name="Picture 1" descr="vehicle_showcase.jpg"/>
          <p:cNvPicPr>
            <a:picLocks noChangeAspect="1"/>
          </p:cNvPicPr>
          <p:nvPr/>
        </p:nvPicPr>
        <p:blipFill>
          <a:blip r:embed="rId3"/>
          <a:srcRect l="23402" r="15601"/>
          <a:stretch>
            <a:fillRect/>
          </a:stretch>
        </p:blipFill>
        <p:spPr>
          <a:xfrm>
            <a:off x="4754880" y="0"/>
            <a:ext cx="7436815" cy="6858000"/>
          </a:xfrm>
          <a:prstGeom prst="rect">
            <a:avLst/>
          </a:prstGeom>
        </p:spPr>
      </p:pic>
      <p:sp>
        <p:nvSpPr>
          <p:cNvPr id="3" name="Rectangle 2"/>
          <p:cNvSpPr/>
          <p:nvPr/>
        </p:nvSpPr>
        <p:spPr>
          <a:xfrm>
            <a:off x="0" y="0"/>
            <a:ext cx="5120640" cy="6858000"/>
          </a:xfrm>
          <a:prstGeom prst="rect">
            <a:avLst/>
          </a:prstGeom>
          <a:solidFill>
            <a:srgbClr val="F4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120640" y="0"/>
            <a:ext cx="91440" cy="6858000"/>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212080" y="0"/>
            <a:ext cx="45720" cy="6858000"/>
          </a:xfrm>
          <a:prstGeom prst="rect">
            <a:avLst/>
          </a:prstGeom>
          <a:solidFill>
            <a:srgbClr val="25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54480"/>
            <a:ext cx="4572000" cy="1097280"/>
          </a:xfrm>
          <a:prstGeom prst="rect">
            <a:avLst/>
          </a:prstGeom>
          <a:noFill/>
        </p:spPr>
        <p:txBody>
          <a:bodyPr wrap="none" lIns="36576" tIns="18288" rIns="36576" bIns="18288" anchor="t">
            <a:spAutoFit/>
          </a:bodyPr>
          <a:lstStyle/>
          <a:p>
            <a:pPr algn="l"/>
            <a:r>
              <a:rPr sz="4800" b="1" i="0">
                <a:solidFill>
                  <a:srgbClr val="202428"/>
                </a:solidFill>
                <a:latin typeface="Segoe UI Semibold"/>
              </a:rPr>
              <a:t>THANK YOU</a:t>
            </a:r>
          </a:p>
        </p:txBody>
      </p:sp>
      <p:sp>
        <p:nvSpPr>
          <p:cNvPr id="7" name="Rectangle 6"/>
          <p:cNvSpPr/>
          <p:nvPr/>
        </p:nvSpPr>
        <p:spPr>
          <a:xfrm>
            <a:off x="594360" y="2651760"/>
            <a:ext cx="1188720" cy="64008"/>
          </a:xfrm>
          <a:prstGeom prst="rect">
            <a:avLst/>
          </a:prstGeom>
          <a:solidFill>
            <a:srgbClr val="D9A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926080"/>
            <a:ext cx="4480560" cy="457200"/>
          </a:xfrm>
          <a:prstGeom prst="rect">
            <a:avLst/>
          </a:prstGeom>
          <a:noFill/>
        </p:spPr>
        <p:txBody>
          <a:bodyPr wrap="square" lIns="36576" tIns="18288" rIns="36576" bIns="18288" anchor="t">
            <a:spAutoFit/>
          </a:bodyPr>
          <a:lstStyle/>
          <a:p>
            <a:pPr algn="l"/>
            <a:r>
              <a:rPr sz="2400" b="1" i="0">
                <a:solidFill>
                  <a:srgbClr val="202428"/>
                </a:solidFill>
                <a:latin typeface="Segoe UI"/>
              </a:rPr>
              <a:t>Afifa Sultana Offa</a:t>
            </a:r>
          </a:p>
        </p:txBody>
      </p:sp>
      <p:sp>
        <p:nvSpPr>
          <p:cNvPr id="9" name="TextBox 8"/>
          <p:cNvSpPr txBox="1"/>
          <p:nvPr/>
        </p:nvSpPr>
        <p:spPr>
          <a:xfrm>
            <a:off x="548640" y="3383280"/>
            <a:ext cx="4480560" cy="365760"/>
          </a:xfrm>
          <a:prstGeom prst="rect">
            <a:avLst/>
          </a:prstGeom>
          <a:noFill/>
        </p:spPr>
        <p:txBody>
          <a:bodyPr wrap="square" lIns="36576" tIns="18288" rIns="36576" bIns="18288" anchor="t">
            <a:spAutoFit/>
          </a:bodyPr>
          <a:lstStyle/>
          <a:p>
            <a:pPr algn="l"/>
            <a:r>
              <a:rPr sz="2000" b="0" i="0">
                <a:solidFill>
                  <a:srgbClr val="6F777D"/>
                </a:solidFill>
                <a:latin typeface="Segoe UI"/>
              </a:rPr>
              <a:t>Roll 2107087</a:t>
            </a:r>
          </a:p>
        </p:txBody>
      </p:sp>
      <p:sp>
        <p:nvSpPr>
          <p:cNvPr id="10" name="TextBox 9"/>
          <p:cNvSpPr txBox="1"/>
          <p:nvPr/>
        </p:nvSpPr>
        <p:spPr>
          <a:xfrm>
            <a:off x="548640" y="5120640"/>
            <a:ext cx="4480560" cy="914400"/>
          </a:xfrm>
          <a:prstGeom prst="rect">
            <a:avLst/>
          </a:prstGeom>
          <a:noFill/>
        </p:spPr>
        <p:txBody>
          <a:bodyPr wrap="square" lIns="36576" tIns="18288" rIns="36576" bIns="18288" anchor="t">
            <a:spAutoFit/>
          </a:bodyPr>
          <a:lstStyle/>
          <a:p>
            <a:pPr algn="l"/>
            <a:r>
              <a:rPr sz="1400" b="0" i="0">
                <a:solidFill>
                  <a:srgbClr val="6F777D"/>
                </a:solidFill>
                <a:latin typeface="Segoe UI"/>
              </a:rPr>
              <a:t>SmartGarage</a:t>
            </a:r>
          </a:p>
          <a:p>
            <a:pPr algn="l"/>
            <a:r>
              <a:rPr sz="1400" b="0" i="0">
                <a:solidFill>
                  <a:srgbClr val="6F777D"/>
                </a:solidFill>
                <a:latin typeface="Segoe UI"/>
              </a:rPr>
              <a:t>Automatic Vehicle Inspection</a:t>
            </a:r>
          </a:p>
          <a:p>
            <a:pPr algn="l"/>
            <a:r>
              <a:rPr sz="1400" b="0" i="0">
                <a:solidFill>
                  <a:srgbClr val="6F777D"/>
                </a:solidFill>
                <a:latin typeface="Segoe UI"/>
              </a:rPr>
              <a:t>and Service System Using OpenGL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1557</Words>
  <Application>Microsoft Office PowerPoint</Application>
  <PresentationFormat>Widescreen</PresentationFormat>
  <Paragraphs>296</Paragraphs>
  <Slides>10</Slides>
  <Notes>10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Cambria Math</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SmartGarage - Final Showcase</dc:title>
  <dc:subject/>
  <dc:creator>Afifa Sultana Offa</dc:creator>
  <cp:keywords/>
  <dc:description>generated using python-pptx</dc:description>
  <cp:lastModifiedBy>Afifa Sultana</cp:lastModifiedBy>
  <cp:revision>3</cp:revision>
  <dcterms:created xsi:type="dcterms:W3CDTF">2013-01-27T09:14:16Z</dcterms:created>
  <dcterms:modified xsi:type="dcterms:W3CDTF">2026-10-07T09:41:18Z</dcterms:modified>
  <cp:category/>
</cp:coreProperties>
</file>